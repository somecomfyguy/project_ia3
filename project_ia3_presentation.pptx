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64" r:id="rId5"/>
    <p:sldId id="261" r:id="rId6"/>
    <p:sldId id="259" r:id="rId7"/>
    <p:sldId id="271" r:id="rId8"/>
    <p:sldId id="265" r:id="rId9"/>
    <p:sldId id="273" r:id="rId10"/>
    <p:sldId id="274" r:id="rId11"/>
    <p:sldId id="269" r:id="rId12"/>
    <p:sldId id="270" r:id="rId13"/>
    <p:sldId id="262" r:id="rId14"/>
    <p:sldId id="260" r:id="rId15"/>
    <p:sldId id="266" r:id="rId16"/>
    <p:sldId id="263" r:id="rId17"/>
    <p:sldId id="275" r:id="rId18"/>
    <p:sldId id="276" r:id="rId19"/>
    <p:sldId id="278" r:id="rId20"/>
    <p:sldId id="27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3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13A328-82C9-EA0F-F6D2-7BAC68C46108}" v="33" dt="2025-11-12T14:43:12.833"/>
    <p1510:client id="{22BA3E01-24BE-2C7C-52B7-A7FB1E638304}" v="883" dt="2025-11-11T20:28:25.032"/>
    <p1510:client id="{A3DD5220-759C-6242-99D6-A815F030BAAD}" v="407" dt="2025-11-11T20:21:27.091"/>
    <p1510:client id="{ED0BAAA1-A55F-EC34-83A3-7F9CF117581A}" v="497" dt="2025-11-10T22:55:47.662"/>
    <p1510:client id="{F3A40AD6-05C0-2321-8220-2B13972C23F9}" v="65" dt="2025-11-12T16:19:10.9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919923-341B-40AB-9530-2E630A75BE3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FFA34EA-1A9F-4938-9A01-CA98C0F34B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rial"/>
              <a:cs typeface="Arial"/>
            </a:rPr>
            <a:t>Introduction</a:t>
          </a:r>
        </a:p>
      </dgm:t>
    </dgm:pt>
    <dgm:pt modelId="{5FB1595A-2693-45F3-A0A9-134708FF82B0}" type="parTrans" cxnId="{3BADD1F7-F3C5-415A-AD1B-8C1D1435A8EF}">
      <dgm:prSet/>
      <dgm:spPr/>
      <dgm:t>
        <a:bodyPr/>
        <a:lstStyle/>
        <a:p>
          <a:endParaRPr lang="en-US"/>
        </a:p>
      </dgm:t>
    </dgm:pt>
    <dgm:pt modelId="{AB5CBEBB-CFD7-487F-A767-B404634BED89}" type="sibTrans" cxnId="{3BADD1F7-F3C5-415A-AD1B-8C1D1435A8EF}">
      <dgm:prSet/>
      <dgm:spPr/>
      <dgm:t>
        <a:bodyPr/>
        <a:lstStyle/>
        <a:p>
          <a:endParaRPr lang="en-US"/>
        </a:p>
      </dgm:t>
    </dgm:pt>
    <dgm:pt modelId="{B6A87743-B0D6-4B9C-BC93-4416F5154D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rial"/>
              <a:cs typeface="Arial"/>
            </a:rPr>
            <a:t>Network Architecture</a:t>
          </a:r>
        </a:p>
      </dgm:t>
    </dgm:pt>
    <dgm:pt modelId="{EB5A6F43-429F-4697-A2F0-81616CCD8914}" type="parTrans" cxnId="{F6D6823C-7F8A-4230-BD48-2B96FF888003}">
      <dgm:prSet/>
      <dgm:spPr/>
      <dgm:t>
        <a:bodyPr/>
        <a:lstStyle/>
        <a:p>
          <a:endParaRPr lang="en-US"/>
        </a:p>
      </dgm:t>
    </dgm:pt>
    <dgm:pt modelId="{76DBC28F-50F6-4A91-96C0-88995EEC8D66}" type="sibTrans" cxnId="{F6D6823C-7F8A-4230-BD48-2B96FF888003}">
      <dgm:prSet/>
      <dgm:spPr/>
      <dgm:t>
        <a:bodyPr/>
        <a:lstStyle/>
        <a:p>
          <a:endParaRPr lang="en-US"/>
        </a:p>
      </dgm:t>
    </dgm:pt>
    <dgm:pt modelId="{CC1D151E-EC97-4F2B-955D-B0F0B94AAA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rial"/>
              <a:cs typeface="Arial"/>
            </a:rPr>
            <a:t>Attacks</a:t>
          </a:r>
        </a:p>
      </dgm:t>
    </dgm:pt>
    <dgm:pt modelId="{E67FA322-3908-4CA3-A742-E036E7945B21}" type="parTrans" cxnId="{E78D8E14-1CD0-4A5C-AEC9-9F822AC20DBE}">
      <dgm:prSet/>
      <dgm:spPr/>
      <dgm:t>
        <a:bodyPr/>
        <a:lstStyle/>
        <a:p>
          <a:endParaRPr lang="en-US"/>
        </a:p>
      </dgm:t>
    </dgm:pt>
    <dgm:pt modelId="{FA11B11E-B270-425A-9B35-F6F27312E13F}" type="sibTrans" cxnId="{E78D8E14-1CD0-4A5C-AEC9-9F822AC20DBE}">
      <dgm:prSet/>
      <dgm:spPr/>
      <dgm:t>
        <a:bodyPr/>
        <a:lstStyle/>
        <a:p>
          <a:endParaRPr lang="en-US"/>
        </a:p>
      </dgm:t>
    </dgm:pt>
    <dgm:pt modelId="{05951D1B-5EA8-43B6-B996-F57DF90D35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rial"/>
              <a:cs typeface="Arial"/>
            </a:rPr>
            <a:t>Defenses</a:t>
          </a:r>
        </a:p>
      </dgm:t>
    </dgm:pt>
    <dgm:pt modelId="{84CE98F1-DC0D-48DF-9B63-0863B8B8347B}" type="parTrans" cxnId="{6E318514-E4E9-49DF-A26C-7F17B2E8761C}">
      <dgm:prSet/>
      <dgm:spPr/>
      <dgm:t>
        <a:bodyPr/>
        <a:lstStyle/>
        <a:p>
          <a:endParaRPr lang="en-US"/>
        </a:p>
      </dgm:t>
    </dgm:pt>
    <dgm:pt modelId="{863DFC2B-1CF2-47E7-BE46-427011E2514B}" type="sibTrans" cxnId="{6E318514-E4E9-49DF-A26C-7F17B2E8761C}">
      <dgm:prSet/>
      <dgm:spPr/>
      <dgm:t>
        <a:bodyPr/>
        <a:lstStyle/>
        <a:p>
          <a:endParaRPr lang="en-US"/>
        </a:p>
      </dgm:t>
    </dgm:pt>
    <dgm:pt modelId="{EEBE709C-6827-45E4-A9FE-20CF0B4391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rial"/>
              <a:cs typeface="Arial"/>
            </a:rPr>
            <a:t>Results</a:t>
          </a:r>
        </a:p>
      </dgm:t>
    </dgm:pt>
    <dgm:pt modelId="{140F855A-12A9-4720-8001-8E632E46DD64}" type="parTrans" cxnId="{42DF4D27-C09B-4EFD-A32E-8108129DE710}">
      <dgm:prSet/>
      <dgm:spPr/>
      <dgm:t>
        <a:bodyPr/>
        <a:lstStyle/>
        <a:p>
          <a:endParaRPr lang="en-US"/>
        </a:p>
      </dgm:t>
    </dgm:pt>
    <dgm:pt modelId="{7480CCA1-6ED0-4D57-BC57-036179712586}" type="sibTrans" cxnId="{42DF4D27-C09B-4EFD-A32E-8108129DE710}">
      <dgm:prSet/>
      <dgm:spPr/>
      <dgm:t>
        <a:bodyPr/>
        <a:lstStyle/>
        <a:p>
          <a:endParaRPr lang="en-US"/>
        </a:p>
      </dgm:t>
    </dgm:pt>
    <dgm:pt modelId="{89C0928B-91EC-4F0B-9232-8B2B9DBF3189}" type="pres">
      <dgm:prSet presAssocID="{60919923-341B-40AB-9530-2E630A75BE3C}" presName="root" presStyleCnt="0">
        <dgm:presLayoutVars>
          <dgm:dir/>
          <dgm:resizeHandles val="exact"/>
        </dgm:presLayoutVars>
      </dgm:prSet>
      <dgm:spPr/>
    </dgm:pt>
    <dgm:pt modelId="{59AF5DA1-B95D-4B0C-BB00-3DA077FA782F}" type="pres">
      <dgm:prSet presAssocID="{DFFA34EA-1A9F-4938-9A01-CA98C0F34BA9}" presName="compNode" presStyleCnt="0"/>
      <dgm:spPr/>
    </dgm:pt>
    <dgm:pt modelId="{1A264708-F278-4BCE-BB2D-2347AD2CF4FD}" type="pres">
      <dgm:prSet presAssocID="{DFFA34EA-1A9F-4938-9A01-CA98C0F34BA9}" presName="bgRect" presStyleLbl="bgShp" presStyleIdx="0" presStyleCnt="5"/>
      <dgm:spPr/>
    </dgm:pt>
    <dgm:pt modelId="{DC9366E0-7D08-466F-BC53-CBEBE9F88ADE}" type="pres">
      <dgm:prSet presAssocID="{DFFA34EA-1A9F-4938-9A01-CA98C0F34BA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ke"/>
        </a:ext>
      </dgm:extLst>
    </dgm:pt>
    <dgm:pt modelId="{E8FDE0C0-23C8-436C-A2C9-82AF7F139DCC}" type="pres">
      <dgm:prSet presAssocID="{DFFA34EA-1A9F-4938-9A01-CA98C0F34BA9}" presName="spaceRect" presStyleCnt="0"/>
      <dgm:spPr/>
    </dgm:pt>
    <dgm:pt modelId="{5BA717AC-E3C1-437D-BA18-0E4211C5B835}" type="pres">
      <dgm:prSet presAssocID="{DFFA34EA-1A9F-4938-9A01-CA98C0F34BA9}" presName="parTx" presStyleLbl="revTx" presStyleIdx="0" presStyleCnt="5">
        <dgm:presLayoutVars>
          <dgm:chMax val="0"/>
          <dgm:chPref val="0"/>
        </dgm:presLayoutVars>
      </dgm:prSet>
      <dgm:spPr/>
    </dgm:pt>
    <dgm:pt modelId="{23188D82-AB29-4239-A063-C67CA63586B2}" type="pres">
      <dgm:prSet presAssocID="{AB5CBEBB-CFD7-487F-A767-B404634BED89}" presName="sibTrans" presStyleCnt="0"/>
      <dgm:spPr/>
    </dgm:pt>
    <dgm:pt modelId="{F4C858CD-4AB1-43A6-8F3C-2B832B19F732}" type="pres">
      <dgm:prSet presAssocID="{B6A87743-B0D6-4B9C-BC93-4416F5154D76}" presName="compNode" presStyleCnt="0"/>
      <dgm:spPr/>
    </dgm:pt>
    <dgm:pt modelId="{56222BA6-D75C-422A-85F6-58DF5CC66AE5}" type="pres">
      <dgm:prSet presAssocID="{B6A87743-B0D6-4B9C-BC93-4416F5154D76}" presName="bgRect" presStyleLbl="bgShp" presStyleIdx="1" presStyleCnt="5"/>
      <dgm:spPr/>
    </dgm:pt>
    <dgm:pt modelId="{8D284141-E1C1-4EC4-ABB2-5A16FA441A36}" type="pres">
      <dgm:prSet presAssocID="{B6A87743-B0D6-4B9C-BC93-4416F5154D7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ign"/>
        </a:ext>
      </dgm:extLst>
    </dgm:pt>
    <dgm:pt modelId="{EDEF22FD-2493-457B-9620-10DD1942EB95}" type="pres">
      <dgm:prSet presAssocID="{B6A87743-B0D6-4B9C-BC93-4416F5154D76}" presName="spaceRect" presStyleCnt="0"/>
      <dgm:spPr/>
    </dgm:pt>
    <dgm:pt modelId="{942F1AC2-493C-444E-982C-866E6241F178}" type="pres">
      <dgm:prSet presAssocID="{B6A87743-B0D6-4B9C-BC93-4416F5154D76}" presName="parTx" presStyleLbl="revTx" presStyleIdx="1" presStyleCnt="5">
        <dgm:presLayoutVars>
          <dgm:chMax val="0"/>
          <dgm:chPref val="0"/>
        </dgm:presLayoutVars>
      </dgm:prSet>
      <dgm:spPr/>
    </dgm:pt>
    <dgm:pt modelId="{0314D340-BD63-42A6-8CC2-6F65AF9258CF}" type="pres">
      <dgm:prSet presAssocID="{76DBC28F-50F6-4A91-96C0-88995EEC8D66}" presName="sibTrans" presStyleCnt="0"/>
      <dgm:spPr/>
    </dgm:pt>
    <dgm:pt modelId="{0FFAD931-6F72-45B6-97FA-E60E27083A1E}" type="pres">
      <dgm:prSet presAssocID="{CC1D151E-EC97-4F2B-955D-B0F0B94AAA98}" presName="compNode" presStyleCnt="0"/>
      <dgm:spPr/>
    </dgm:pt>
    <dgm:pt modelId="{1A5A16FC-27FF-415B-A68D-4BFBBEFDAA8A}" type="pres">
      <dgm:prSet presAssocID="{CC1D151E-EC97-4F2B-955D-B0F0B94AAA98}" presName="bgRect" presStyleLbl="bgShp" presStyleIdx="2" presStyleCnt="5"/>
      <dgm:spPr/>
    </dgm:pt>
    <dgm:pt modelId="{24E5DF8B-4684-4312-BA86-1FB6146599CE}" type="pres">
      <dgm:prSet presAssocID="{CC1D151E-EC97-4F2B-955D-B0F0B94AAA9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ishing"/>
        </a:ext>
      </dgm:extLst>
    </dgm:pt>
    <dgm:pt modelId="{2E890F36-CA9A-4331-885E-DD528BBC7481}" type="pres">
      <dgm:prSet presAssocID="{CC1D151E-EC97-4F2B-955D-B0F0B94AAA98}" presName="spaceRect" presStyleCnt="0"/>
      <dgm:spPr/>
    </dgm:pt>
    <dgm:pt modelId="{60100765-987D-4B7F-AA2A-719DDF7656AF}" type="pres">
      <dgm:prSet presAssocID="{CC1D151E-EC97-4F2B-955D-B0F0B94AAA98}" presName="parTx" presStyleLbl="revTx" presStyleIdx="2" presStyleCnt="5">
        <dgm:presLayoutVars>
          <dgm:chMax val="0"/>
          <dgm:chPref val="0"/>
        </dgm:presLayoutVars>
      </dgm:prSet>
      <dgm:spPr/>
    </dgm:pt>
    <dgm:pt modelId="{55760649-CC6C-419C-A4FF-D5F4BFA07AFD}" type="pres">
      <dgm:prSet presAssocID="{FA11B11E-B270-425A-9B35-F6F27312E13F}" presName="sibTrans" presStyleCnt="0"/>
      <dgm:spPr/>
    </dgm:pt>
    <dgm:pt modelId="{6D0220A0-BAE8-482D-8382-BC2C7305E291}" type="pres">
      <dgm:prSet presAssocID="{05951D1B-5EA8-43B6-B996-F57DF90D3519}" presName="compNode" presStyleCnt="0"/>
      <dgm:spPr/>
    </dgm:pt>
    <dgm:pt modelId="{93D7A563-5A07-48EF-8344-C31C0A756D62}" type="pres">
      <dgm:prSet presAssocID="{05951D1B-5EA8-43B6-B996-F57DF90D3519}" presName="bgRect" presStyleLbl="bgShp" presStyleIdx="3" presStyleCnt="5"/>
      <dgm:spPr/>
    </dgm:pt>
    <dgm:pt modelId="{F7F92EBD-0EE9-4B79-A6A0-9131F38EE057}" type="pres">
      <dgm:prSet presAssocID="{05951D1B-5EA8-43B6-B996-F57DF90D351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ave"/>
        </a:ext>
      </dgm:extLst>
    </dgm:pt>
    <dgm:pt modelId="{0CEA0D83-7C5D-42B1-8046-D5C3FA1CEFE9}" type="pres">
      <dgm:prSet presAssocID="{05951D1B-5EA8-43B6-B996-F57DF90D3519}" presName="spaceRect" presStyleCnt="0"/>
      <dgm:spPr/>
    </dgm:pt>
    <dgm:pt modelId="{198F8E0A-3C6E-4A06-932C-BA033EF62805}" type="pres">
      <dgm:prSet presAssocID="{05951D1B-5EA8-43B6-B996-F57DF90D3519}" presName="parTx" presStyleLbl="revTx" presStyleIdx="3" presStyleCnt="5">
        <dgm:presLayoutVars>
          <dgm:chMax val="0"/>
          <dgm:chPref val="0"/>
        </dgm:presLayoutVars>
      </dgm:prSet>
      <dgm:spPr/>
    </dgm:pt>
    <dgm:pt modelId="{EC79D377-10F6-43C6-87CB-2D88D2AEC6E8}" type="pres">
      <dgm:prSet presAssocID="{863DFC2B-1CF2-47E7-BE46-427011E2514B}" presName="sibTrans" presStyleCnt="0"/>
      <dgm:spPr/>
    </dgm:pt>
    <dgm:pt modelId="{9D599C91-CA04-468B-8D38-C8C3B48F3D27}" type="pres">
      <dgm:prSet presAssocID="{EEBE709C-6827-45E4-A9FE-20CF0B439198}" presName="compNode" presStyleCnt="0"/>
      <dgm:spPr/>
    </dgm:pt>
    <dgm:pt modelId="{468FB48C-9311-4335-92FC-541092B0AF53}" type="pres">
      <dgm:prSet presAssocID="{EEBE709C-6827-45E4-A9FE-20CF0B439198}" presName="bgRect" presStyleLbl="bgShp" presStyleIdx="4" presStyleCnt="5"/>
      <dgm:spPr/>
    </dgm:pt>
    <dgm:pt modelId="{0AA53BB2-50F9-48C1-BA27-FC5AED5920A0}" type="pres">
      <dgm:prSet presAssocID="{EEBE709C-6827-45E4-A9FE-20CF0B43919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naire"/>
        </a:ext>
      </dgm:extLst>
    </dgm:pt>
    <dgm:pt modelId="{76526B2A-A0F5-4EB4-805E-7D5CAA896AFD}" type="pres">
      <dgm:prSet presAssocID="{EEBE709C-6827-45E4-A9FE-20CF0B439198}" presName="spaceRect" presStyleCnt="0"/>
      <dgm:spPr/>
    </dgm:pt>
    <dgm:pt modelId="{38ADACE2-622D-47BB-9DF9-D8800C68A7FB}" type="pres">
      <dgm:prSet presAssocID="{EEBE709C-6827-45E4-A9FE-20CF0B43919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E318514-E4E9-49DF-A26C-7F17B2E8761C}" srcId="{60919923-341B-40AB-9530-2E630A75BE3C}" destId="{05951D1B-5EA8-43B6-B996-F57DF90D3519}" srcOrd="3" destOrd="0" parTransId="{84CE98F1-DC0D-48DF-9B63-0863B8B8347B}" sibTransId="{863DFC2B-1CF2-47E7-BE46-427011E2514B}"/>
    <dgm:cxn modelId="{E78D8E14-1CD0-4A5C-AEC9-9F822AC20DBE}" srcId="{60919923-341B-40AB-9530-2E630A75BE3C}" destId="{CC1D151E-EC97-4F2B-955D-B0F0B94AAA98}" srcOrd="2" destOrd="0" parTransId="{E67FA322-3908-4CA3-A742-E036E7945B21}" sibTransId="{FA11B11E-B270-425A-9B35-F6F27312E13F}"/>
    <dgm:cxn modelId="{42DF4D27-C09B-4EFD-A32E-8108129DE710}" srcId="{60919923-341B-40AB-9530-2E630A75BE3C}" destId="{EEBE709C-6827-45E4-A9FE-20CF0B439198}" srcOrd="4" destOrd="0" parTransId="{140F855A-12A9-4720-8001-8E632E46DD64}" sibTransId="{7480CCA1-6ED0-4D57-BC57-036179712586}"/>
    <dgm:cxn modelId="{F6D6823C-7F8A-4230-BD48-2B96FF888003}" srcId="{60919923-341B-40AB-9530-2E630A75BE3C}" destId="{B6A87743-B0D6-4B9C-BC93-4416F5154D76}" srcOrd="1" destOrd="0" parTransId="{EB5A6F43-429F-4697-A2F0-81616CCD8914}" sibTransId="{76DBC28F-50F6-4A91-96C0-88995EEC8D66}"/>
    <dgm:cxn modelId="{8331E05B-DEAF-4B7A-8C82-261544A4888A}" type="presOf" srcId="{CC1D151E-EC97-4F2B-955D-B0F0B94AAA98}" destId="{60100765-987D-4B7F-AA2A-719DDF7656AF}" srcOrd="0" destOrd="0" presId="urn:microsoft.com/office/officeart/2018/2/layout/IconVerticalSolidList"/>
    <dgm:cxn modelId="{4B8FFE77-EF45-451C-87C2-DBE78A91AA8F}" type="presOf" srcId="{B6A87743-B0D6-4B9C-BC93-4416F5154D76}" destId="{942F1AC2-493C-444E-982C-866E6241F178}" srcOrd="0" destOrd="0" presId="urn:microsoft.com/office/officeart/2018/2/layout/IconVerticalSolidList"/>
    <dgm:cxn modelId="{F33E53B3-5F53-481B-97FD-AEA082D291BB}" type="presOf" srcId="{60919923-341B-40AB-9530-2E630A75BE3C}" destId="{89C0928B-91EC-4F0B-9232-8B2B9DBF3189}" srcOrd="0" destOrd="0" presId="urn:microsoft.com/office/officeart/2018/2/layout/IconVerticalSolidList"/>
    <dgm:cxn modelId="{459CA0D0-6CA7-4C6C-9863-496736BB545E}" type="presOf" srcId="{EEBE709C-6827-45E4-A9FE-20CF0B439198}" destId="{38ADACE2-622D-47BB-9DF9-D8800C68A7FB}" srcOrd="0" destOrd="0" presId="urn:microsoft.com/office/officeart/2018/2/layout/IconVerticalSolidList"/>
    <dgm:cxn modelId="{8952D6EB-DFA9-4633-9F41-5F5685B85641}" type="presOf" srcId="{DFFA34EA-1A9F-4938-9A01-CA98C0F34BA9}" destId="{5BA717AC-E3C1-437D-BA18-0E4211C5B835}" srcOrd="0" destOrd="0" presId="urn:microsoft.com/office/officeart/2018/2/layout/IconVerticalSolidList"/>
    <dgm:cxn modelId="{3BADD1F7-F3C5-415A-AD1B-8C1D1435A8EF}" srcId="{60919923-341B-40AB-9530-2E630A75BE3C}" destId="{DFFA34EA-1A9F-4938-9A01-CA98C0F34BA9}" srcOrd="0" destOrd="0" parTransId="{5FB1595A-2693-45F3-A0A9-134708FF82B0}" sibTransId="{AB5CBEBB-CFD7-487F-A767-B404634BED89}"/>
    <dgm:cxn modelId="{E40ACAF8-4DE2-497F-9CE1-43A6ACEBDFC7}" type="presOf" srcId="{05951D1B-5EA8-43B6-B996-F57DF90D3519}" destId="{198F8E0A-3C6E-4A06-932C-BA033EF62805}" srcOrd="0" destOrd="0" presId="urn:microsoft.com/office/officeart/2018/2/layout/IconVerticalSolidList"/>
    <dgm:cxn modelId="{D7428DDB-B155-4154-B10B-4009827F01B4}" type="presParOf" srcId="{89C0928B-91EC-4F0B-9232-8B2B9DBF3189}" destId="{59AF5DA1-B95D-4B0C-BB00-3DA077FA782F}" srcOrd="0" destOrd="0" presId="urn:microsoft.com/office/officeart/2018/2/layout/IconVerticalSolidList"/>
    <dgm:cxn modelId="{4FA2DF6F-DA42-4E7A-B39A-31DC21058662}" type="presParOf" srcId="{59AF5DA1-B95D-4B0C-BB00-3DA077FA782F}" destId="{1A264708-F278-4BCE-BB2D-2347AD2CF4FD}" srcOrd="0" destOrd="0" presId="urn:microsoft.com/office/officeart/2018/2/layout/IconVerticalSolidList"/>
    <dgm:cxn modelId="{B85F784E-0CC1-42AA-8C1F-BC761BBCA404}" type="presParOf" srcId="{59AF5DA1-B95D-4B0C-BB00-3DA077FA782F}" destId="{DC9366E0-7D08-466F-BC53-CBEBE9F88ADE}" srcOrd="1" destOrd="0" presId="urn:microsoft.com/office/officeart/2018/2/layout/IconVerticalSolidList"/>
    <dgm:cxn modelId="{F6BEA6BE-0B49-498F-BBE5-82A47CEF8848}" type="presParOf" srcId="{59AF5DA1-B95D-4B0C-BB00-3DA077FA782F}" destId="{E8FDE0C0-23C8-436C-A2C9-82AF7F139DCC}" srcOrd="2" destOrd="0" presId="urn:microsoft.com/office/officeart/2018/2/layout/IconVerticalSolidList"/>
    <dgm:cxn modelId="{F528E79B-C91D-444B-A5F4-222733C676EB}" type="presParOf" srcId="{59AF5DA1-B95D-4B0C-BB00-3DA077FA782F}" destId="{5BA717AC-E3C1-437D-BA18-0E4211C5B835}" srcOrd="3" destOrd="0" presId="urn:microsoft.com/office/officeart/2018/2/layout/IconVerticalSolidList"/>
    <dgm:cxn modelId="{48FDDDB8-2DAD-4256-8724-AD8C0116005F}" type="presParOf" srcId="{89C0928B-91EC-4F0B-9232-8B2B9DBF3189}" destId="{23188D82-AB29-4239-A063-C67CA63586B2}" srcOrd="1" destOrd="0" presId="urn:microsoft.com/office/officeart/2018/2/layout/IconVerticalSolidList"/>
    <dgm:cxn modelId="{8ABE037E-3B1B-4134-8B58-FEA690529EA6}" type="presParOf" srcId="{89C0928B-91EC-4F0B-9232-8B2B9DBF3189}" destId="{F4C858CD-4AB1-43A6-8F3C-2B832B19F732}" srcOrd="2" destOrd="0" presId="urn:microsoft.com/office/officeart/2018/2/layout/IconVerticalSolidList"/>
    <dgm:cxn modelId="{C2CE83EF-A98A-4140-BEC6-FD91E2815FD0}" type="presParOf" srcId="{F4C858CD-4AB1-43A6-8F3C-2B832B19F732}" destId="{56222BA6-D75C-422A-85F6-58DF5CC66AE5}" srcOrd="0" destOrd="0" presId="urn:microsoft.com/office/officeart/2018/2/layout/IconVerticalSolidList"/>
    <dgm:cxn modelId="{DCBF3D25-5861-46FF-A289-781E080EB3D5}" type="presParOf" srcId="{F4C858CD-4AB1-43A6-8F3C-2B832B19F732}" destId="{8D284141-E1C1-4EC4-ABB2-5A16FA441A36}" srcOrd="1" destOrd="0" presId="urn:microsoft.com/office/officeart/2018/2/layout/IconVerticalSolidList"/>
    <dgm:cxn modelId="{1F6D15EC-83B9-4F25-8176-26975C64432F}" type="presParOf" srcId="{F4C858CD-4AB1-43A6-8F3C-2B832B19F732}" destId="{EDEF22FD-2493-457B-9620-10DD1942EB95}" srcOrd="2" destOrd="0" presId="urn:microsoft.com/office/officeart/2018/2/layout/IconVerticalSolidList"/>
    <dgm:cxn modelId="{646C2FF0-9E4F-4FBA-B0C1-68B9D9780089}" type="presParOf" srcId="{F4C858CD-4AB1-43A6-8F3C-2B832B19F732}" destId="{942F1AC2-493C-444E-982C-866E6241F178}" srcOrd="3" destOrd="0" presId="urn:microsoft.com/office/officeart/2018/2/layout/IconVerticalSolidList"/>
    <dgm:cxn modelId="{19E49B23-9A49-4AB2-B2E0-06CD5C26F5B6}" type="presParOf" srcId="{89C0928B-91EC-4F0B-9232-8B2B9DBF3189}" destId="{0314D340-BD63-42A6-8CC2-6F65AF9258CF}" srcOrd="3" destOrd="0" presId="urn:microsoft.com/office/officeart/2018/2/layout/IconVerticalSolidList"/>
    <dgm:cxn modelId="{F5A60DFB-E9F7-4F8C-B369-A54620DBDEA0}" type="presParOf" srcId="{89C0928B-91EC-4F0B-9232-8B2B9DBF3189}" destId="{0FFAD931-6F72-45B6-97FA-E60E27083A1E}" srcOrd="4" destOrd="0" presId="urn:microsoft.com/office/officeart/2018/2/layout/IconVerticalSolidList"/>
    <dgm:cxn modelId="{832127BE-BE11-4891-84B1-549B47DF7441}" type="presParOf" srcId="{0FFAD931-6F72-45B6-97FA-E60E27083A1E}" destId="{1A5A16FC-27FF-415B-A68D-4BFBBEFDAA8A}" srcOrd="0" destOrd="0" presId="urn:microsoft.com/office/officeart/2018/2/layout/IconVerticalSolidList"/>
    <dgm:cxn modelId="{D5103B69-833A-4165-9ED8-89B3D593844E}" type="presParOf" srcId="{0FFAD931-6F72-45B6-97FA-E60E27083A1E}" destId="{24E5DF8B-4684-4312-BA86-1FB6146599CE}" srcOrd="1" destOrd="0" presId="urn:microsoft.com/office/officeart/2018/2/layout/IconVerticalSolidList"/>
    <dgm:cxn modelId="{ACFBA180-0D3F-48A4-A2A3-77523BBDFCE8}" type="presParOf" srcId="{0FFAD931-6F72-45B6-97FA-E60E27083A1E}" destId="{2E890F36-CA9A-4331-885E-DD528BBC7481}" srcOrd="2" destOrd="0" presId="urn:microsoft.com/office/officeart/2018/2/layout/IconVerticalSolidList"/>
    <dgm:cxn modelId="{F0BFCC9C-51AB-429A-A87F-5A1A9AE2DC29}" type="presParOf" srcId="{0FFAD931-6F72-45B6-97FA-E60E27083A1E}" destId="{60100765-987D-4B7F-AA2A-719DDF7656AF}" srcOrd="3" destOrd="0" presId="urn:microsoft.com/office/officeart/2018/2/layout/IconVerticalSolidList"/>
    <dgm:cxn modelId="{17F26238-6EB1-4789-8C44-8BF721DDB9E7}" type="presParOf" srcId="{89C0928B-91EC-4F0B-9232-8B2B9DBF3189}" destId="{55760649-CC6C-419C-A4FF-D5F4BFA07AFD}" srcOrd="5" destOrd="0" presId="urn:microsoft.com/office/officeart/2018/2/layout/IconVerticalSolidList"/>
    <dgm:cxn modelId="{9CF84051-2941-4376-AB0B-45669E2051B5}" type="presParOf" srcId="{89C0928B-91EC-4F0B-9232-8B2B9DBF3189}" destId="{6D0220A0-BAE8-482D-8382-BC2C7305E291}" srcOrd="6" destOrd="0" presId="urn:microsoft.com/office/officeart/2018/2/layout/IconVerticalSolidList"/>
    <dgm:cxn modelId="{D761A015-B22B-4F9F-9C96-EEED0AD5EC53}" type="presParOf" srcId="{6D0220A0-BAE8-482D-8382-BC2C7305E291}" destId="{93D7A563-5A07-48EF-8344-C31C0A756D62}" srcOrd="0" destOrd="0" presId="urn:microsoft.com/office/officeart/2018/2/layout/IconVerticalSolidList"/>
    <dgm:cxn modelId="{3DA7C15A-0514-44BF-BBE7-AFCB227B5C28}" type="presParOf" srcId="{6D0220A0-BAE8-482D-8382-BC2C7305E291}" destId="{F7F92EBD-0EE9-4B79-A6A0-9131F38EE057}" srcOrd="1" destOrd="0" presId="urn:microsoft.com/office/officeart/2018/2/layout/IconVerticalSolidList"/>
    <dgm:cxn modelId="{6CEACF64-247F-46E0-80C2-71695B91346F}" type="presParOf" srcId="{6D0220A0-BAE8-482D-8382-BC2C7305E291}" destId="{0CEA0D83-7C5D-42B1-8046-D5C3FA1CEFE9}" srcOrd="2" destOrd="0" presId="urn:microsoft.com/office/officeart/2018/2/layout/IconVerticalSolidList"/>
    <dgm:cxn modelId="{5A3D689A-60A0-4DB8-B9CA-A356F6494D7D}" type="presParOf" srcId="{6D0220A0-BAE8-482D-8382-BC2C7305E291}" destId="{198F8E0A-3C6E-4A06-932C-BA033EF62805}" srcOrd="3" destOrd="0" presId="urn:microsoft.com/office/officeart/2018/2/layout/IconVerticalSolidList"/>
    <dgm:cxn modelId="{8B8DBB7C-3B92-4D94-AE4F-785595B7739B}" type="presParOf" srcId="{89C0928B-91EC-4F0B-9232-8B2B9DBF3189}" destId="{EC79D377-10F6-43C6-87CB-2D88D2AEC6E8}" srcOrd="7" destOrd="0" presId="urn:microsoft.com/office/officeart/2018/2/layout/IconVerticalSolidList"/>
    <dgm:cxn modelId="{ECDFD9DE-692C-4841-B7F3-79A2F47D815F}" type="presParOf" srcId="{89C0928B-91EC-4F0B-9232-8B2B9DBF3189}" destId="{9D599C91-CA04-468B-8D38-C8C3B48F3D27}" srcOrd="8" destOrd="0" presId="urn:microsoft.com/office/officeart/2018/2/layout/IconVerticalSolidList"/>
    <dgm:cxn modelId="{DE8BE211-C911-480A-BE01-0B47F8DD90D2}" type="presParOf" srcId="{9D599C91-CA04-468B-8D38-C8C3B48F3D27}" destId="{468FB48C-9311-4335-92FC-541092B0AF53}" srcOrd="0" destOrd="0" presId="urn:microsoft.com/office/officeart/2018/2/layout/IconVerticalSolidList"/>
    <dgm:cxn modelId="{927F4BA6-7305-4302-9016-8D57515C4116}" type="presParOf" srcId="{9D599C91-CA04-468B-8D38-C8C3B48F3D27}" destId="{0AA53BB2-50F9-48C1-BA27-FC5AED5920A0}" srcOrd="1" destOrd="0" presId="urn:microsoft.com/office/officeart/2018/2/layout/IconVerticalSolidList"/>
    <dgm:cxn modelId="{6C8B5CBD-A0B3-4EC0-8378-25B0F91C886E}" type="presParOf" srcId="{9D599C91-CA04-468B-8D38-C8C3B48F3D27}" destId="{76526B2A-A0F5-4EB4-805E-7D5CAA896AFD}" srcOrd="2" destOrd="0" presId="urn:microsoft.com/office/officeart/2018/2/layout/IconVerticalSolidList"/>
    <dgm:cxn modelId="{C49570AB-80A5-4016-A8BB-9DB0B9C4ABBB}" type="presParOf" srcId="{9D599C91-CA04-468B-8D38-C8C3B48F3D27}" destId="{38ADACE2-622D-47BB-9DF9-D8800C68A7F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8D5AE6-D2EF-43A1-8083-D33DE9D89E0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385FE85F-EB89-4CAD-8241-76145EDF0ECC}">
      <dgm:prSet/>
      <dgm:spPr/>
      <dgm:t>
        <a:bodyPr/>
        <a:lstStyle/>
        <a:p>
          <a:r>
            <a:rPr lang="en-US">
              <a:latin typeface="Arial"/>
              <a:cs typeface="Arial"/>
            </a:rPr>
            <a:t>Task: object recognition</a:t>
          </a:r>
        </a:p>
      </dgm:t>
    </dgm:pt>
    <dgm:pt modelId="{20C796B7-8355-4598-BFB2-A419C3290072}" type="parTrans" cxnId="{F8F7CF77-DE8A-4843-B9F8-0272F5963790}">
      <dgm:prSet/>
      <dgm:spPr/>
      <dgm:t>
        <a:bodyPr/>
        <a:lstStyle/>
        <a:p>
          <a:endParaRPr lang="en-US"/>
        </a:p>
      </dgm:t>
    </dgm:pt>
    <dgm:pt modelId="{456AD964-F0BE-4EFA-B7A0-D51AD365F524}" type="sibTrans" cxnId="{F8F7CF77-DE8A-4843-B9F8-0272F5963790}">
      <dgm:prSet/>
      <dgm:spPr/>
      <dgm:t>
        <a:bodyPr/>
        <a:lstStyle/>
        <a:p>
          <a:endParaRPr lang="en-US"/>
        </a:p>
      </dgm:t>
    </dgm:pt>
    <dgm:pt modelId="{73D2B4F5-215E-4475-8CF6-3E9A7EC0510A}">
      <dgm:prSet/>
      <dgm:spPr/>
      <dgm:t>
        <a:bodyPr/>
        <a:lstStyle/>
        <a:p>
          <a:r>
            <a:rPr lang="en-US">
              <a:latin typeface="Calibri"/>
              <a:ea typeface="Calibri"/>
              <a:cs typeface="Calibri"/>
            </a:rPr>
            <a:t>Defenses: Adversarial Training, Jacobian Regularization</a:t>
          </a:r>
          <a:endParaRPr lang="en-US">
            <a:latin typeface="Arial"/>
            <a:cs typeface="Arial"/>
          </a:endParaRPr>
        </a:p>
      </dgm:t>
    </dgm:pt>
    <dgm:pt modelId="{2F2BACD2-B234-4EBD-AB45-2330EBA94952}" type="parTrans" cxnId="{A86668DC-7402-4071-9DD7-D910BE0E2C92}">
      <dgm:prSet/>
      <dgm:spPr/>
      <dgm:t>
        <a:bodyPr/>
        <a:lstStyle/>
        <a:p>
          <a:endParaRPr lang="en-US"/>
        </a:p>
      </dgm:t>
    </dgm:pt>
    <dgm:pt modelId="{1504304C-E51A-4763-91BC-8B96FB735B10}" type="sibTrans" cxnId="{A86668DC-7402-4071-9DD7-D910BE0E2C92}">
      <dgm:prSet/>
      <dgm:spPr/>
      <dgm:t>
        <a:bodyPr/>
        <a:lstStyle/>
        <a:p>
          <a:endParaRPr lang="en-US"/>
        </a:p>
      </dgm:t>
    </dgm:pt>
    <dgm:pt modelId="{6E7F1EA8-ECD8-4AAD-8796-15A169DFEB41}">
      <dgm:prSet/>
      <dgm:spPr/>
      <dgm:t>
        <a:bodyPr/>
        <a:lstStyle/>
        <a:p>
          <a:r>
            <a:rPr lang="en-US">
              <a:latin typeface="Calibri"/>
              <a:ea typeface="Calibri"/>
              <a:cs typeface="Calibri"/>
            </a:rPr>
            <a:t>Attacks: PGD, </a:t>
          </a:r>
          <a:r>
            <a:rPr lang="en-US" err="1">
              <a:latin typeface="Calibri"/>
              <a:ea typeface="Calibri"/>
              <a:cs typeface="Calibri"/>
            </a:rPr>
            <a:t>DeepFool</a:t>
          </a:r>
          <a:endParaRPr lang="en-US">
            <a:latin typeface="Calibri"/>
            <a:ea typeface="Calibri"/>
            <a:cs typeface="Calibri"/>
          </a:endParaRPr>
        </a:p>
      </dgm:t>
    </dgm:pt>
    <dgm:pt modelId="{D4985DB1-6CEA-440B-BB02-6EE56DAB3DBF}" type="parTrans" cxnId="{BC0CABDC-1277-4D92-AA1B-4D4C2308DF2E}">
      <dgm:prSet/>
      <dgm:spPr/>
      <dgm:t>
        <a:bodyPr/>
        <a:lstStyle/>
        <a:p>
          <a:endParaRPr lang="en-US"/>
        </a:p>
      </dgm:t>
    </dgm:pt>
    <dgm:pt modelId="{146F2A64-58CE-489B-B4FA-99BAA640BE77}" type="sibTrans" cxnId="{BC0CABDC-1277-4D92-AA1B-4D4C2308DF2E}">
      <dgm:prSet/>
      <dgm:spPr/>
      <dgm:t>
        <a:bodyPr/>
        <a:lstStyle/>
        <a:p>
          <a:endParaRPr lang="en-US"/>
        </a:p>
      </dgm:t>
    </dgm:pt>
    <dgm:pt modelId="{EBDD73BD-87BF-4F7C-8F68-D7C67109A918}" type="pres">
      <dgm:prSet presAssocID="{0C8D5AE6-D2EF-43A1-8083-D33DE9D89E07}" presName="root" presStyleCnt="0">
        <dgm:presLayoutVars>
          <dgm:dir/>
          <dgm:resizeHandles val="exact"/>
        </dgm:presLayoutVars>
      </dgm:prSet>
      <dgm:spPr/>
    </dgm:pt>
    <dgm:pt modelId="{6BB670D6-B5F0-4C79-A0BD-588B5D5AB9B4}" type="pres">
      <dgm:prSet presAssocID="{385FE85F-EB89-4CAD-8241-76145EDF0ECC}" presName="compNode" presStyleCnt="0"/>
      <dgm:spPr/>
    </dgm:pt>
    <dgm:pt modelId="{B026704E-764A-47B0-88A0-890BF8461D3A}" type="pres">
      <dgm:prSet presAssocID="{385FE85F-EB89-4CAD-8241-76145EDF0ECC}" presName="bgRect" presStyleLbl="bgShp" presStyleIdx="0" presStyleCnt="3"/>
      <dgm:spPr/>
    </dgm:pt>
    <dgm:pt modelId="{615D4378-D146-418D-8B50-50225540F9AA}" type="pres">
      <dgm:prSet presAssocID="{385FE85F-EB89-4CAD-8241-76145EDF0EC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D4E850AB-AFF8-4B31-A469-78EA8B41B8EB}" type="pres">
      <dgm:prSet presAssocID="{385FE85F-EB89-4CAD-8241-76145EDF0ECC}" presName="spaceRect" presStyleCnt="0"/>
      <dgm:spPr/>
    </dgm:pt>
    <dgm:pt modelId="{D6CD71D9-157B-4E01-A8EB-55BA72DEA77E}" type="pres">
      <dgm:prSet presAssocID="{385FE85F-EB89-4CAD-8241-76145EDF0ECC}" presName="parTx" presStyleLbl="revTx" presStyleIdx="0" presStyleCnt="3">
        <dgm:presLayoutVars>
          <dgm:chMax val="0"/>
          <dgm:chPref val="0"/>
        </dgm:presLayoutVars>
      </dgm:prSet>
      <dgm:spPr/>
    </dgm:pt>
    <dgm:pt modelId="{FAFCB8F9-601A-456C-9D53-AF07BDD3AB53}" type="pres">
      <dgm:prSet presAssocID="{456AD964-F0BE-4EFA-B7A0-D51AD365F524}" presName="sibTrans" presStyleCnt="0"/>
      <dgm:spPr/>
    </dgm:pt>
    <dgm:pt modelId="{9D42F3C9-A7B3-49C2-BB3C-54281BD478A9}" type="pres">
      <dgm:prSet presAssocID="{73D2B4F5-215E-4475-8CF6-3E9A7EC0510A}" presName="compNode" presStyleCnt="0"/>
      <dgm:spPr/>
    </dgm:pt>
    <dgm:pt modelId="{3ED31BBD-8B4D-4FEB-9EBB-FC17DBE5EF12}" type="pres">
      <dgm:prSet presAssocID="{73D2B4F5-215E-4475-8CF6-3E9A7EC0510A}" presName="bgRect" presStyleLbl="bgShp" presStyleIdx="1" presStyleCnt="3"/>
      <dgm:spPr/>
    </dgm:pt>
    <dgm:pt modelId="{796F643B-4E0F-4242-B3AB-E9450017D4E1}" type="pres">
      <dgm:prSet presAssocID="{73D2B4F5-215E-4475-8CF6-3E9A7EC0510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F26DB7FE-A200-4B5F-89B9-DE6F28428022}" type="pres">
      <dgm:prSet presAssocID="{73D2B4F5-215E-4475-8CF6-3E9A7EC0510A}" presName="spaceRect" presStyleCnt="0"/>
      <dgm:spPr/>
    </dgm:pt>
    <dgm:pt modelId="{86FEB66F-EAA3-4743-B705-EE02C81F62BE}" type="pres">
      <dgm:prSet presAssocID="{73D2B4F5-215E-4475-8CF6-3E9A7EC0510A}" presName="parTx" presStyleLbl="revTx" presStyleIdx="1" presStyleCnt="3">
        <dgm:presLayoutVars>
          <dgm:chMax val="0"/>
          <dgm:chPref val="0"/>
        </dgm:presLayoutVars>
      </dgm:prSet>
      <dgm:spPr/>
    </dgm:pt>
    <dgm:pt modelId="{B94B4442-322F-4A0C-A0F7-A408D28DE1E9}" type="pres">
      <dgm:prSet presAssocID="{1504304C-E51A-4763-91BC-8B96FB735B10}" presName="sibTrans" presStyleCnt="0"/>
      <dgm:spPr/>
    </dgm:pt>
    <dgm:pt modelId="{C9783596-F40D-4C07-97E5-F296123475DD}" type="pres">
      <dgm:prSet presAssocID="{6E7F1EA8-ECD8-4AAD-8796-15A169DFEB41}" presName="compNode" presStyleCnt="0"/>
      <dgm:spPr/>
    </dgm:pt>
    <dgm:pt modelId="{CB9ECE62-0304-4C0C-821C-2B77475C9363}" type="pres">
      <dgm:prSet presAssocID="{6E7F1EA8-ECD8-4AAD-8796-15A169DFEB41}" presName="bgRect" presStyleLbl="bgShp" presStyleIdx="2" presStyleCnt="3"/>
      <dgm:spPr/>
    </dgm:pt>
    <dgm:pt modelId="{E00F5157-8C20-4C6A-8CF1-C2A004CB12BF}" type="pres">
      <dgm:prSet presAssocID="{6E7F1EA8-ECD8-4AAD-8796-15A169DFEB4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ull"/>
        </a:ext>
      </dgm:extLst>
    </dgm:pt>
    <dgm:pt modelId="{27BC3BFE-F9C9-4B34-A100-5A655C55E4EA}" type="pres">
      <dgm:prSet presAssocID="{6E7F1EA8-ECD8-4AAD-8796-15A169DFEB41}" presName="spaceRect" presStyleCnt="0"/>
      <dgm:spPr/>
    </dgm:pt>
    <dgm:pt modelId="{770B0D46-46BD-4961-A568-1686F8940137}" type="pres">
      <dgm:prSet presAssocID="{6E7F1EA8-ECD8-4AAD-8796-15A169DFEB4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94D162C-8861-4C3E-BB2E-8B226EB70379}" type="presOf" srcId="{73D2B4F5-215E-4475-8CF6-3E9A7EC0510A}" destId="{86FEB66F-EAA3-4743-B705-EE02C81F62BE}" srcOrd="0" destOrd="0" presId="urn:microsoft.com/office/officeart/2018/2/layout/IconVerticalSolidList"/>
    <dgm:cxn modelId="{72BE3C3C-625F-4514-95FF-1C397216EE88}" type="presOf" srcId="{0C8D5AE6-D2EF-43A1-8083-D33DE9D89E07}" destId="{EBDD73BD-87BF-4F7C-8F68-D7C67109A918}" srcOrd="0" destOrd="0" presId="urn:microsoft.com/office/officeart/2018/2/layout/IconVerticalSolidList"/>
    <dgm:cxn modelId="{C3FE0673-A4F5-4353-AD21-3733CE546E16}" type="presOf" srcId="{385FE85F-EB89-4CAD-8241-76145EDF0ECC}" destId="{D6CD71D9-157B-4E01-A8EB-55BA72DEA77E}" srcOrd="0" destOrd="0" presId="urn:microsoft.com/office/officeart/2018/2/layout/IconVerticalSolidList"/>
    <dgm:cxn modelId="{F8F7CF77-DE8A-4843-B9F8-0272F5963790}" srcId="{0C8D5AE6-D2EF-43A1-8083-D33DE9D89E07}" destId="{385FE85F-EB89-4CAD-8241-76145EDF0ECC}" srcOrd="0" destOrd="0" parTransId="{20C796B7-8355-4598-BFB2-A419C3290072}" sibTransId="{456AD964-F0BE-4EFA-B7A0-D51AD365F524}"/>
    <dgm:cxn modelId="{1663B2BD-7F26-42CF-9CE7-D6025F441E1C}" type="presOf" srcId="{6E7F1EA8-ECD8-4AAD-8796-15A169DFEB41}" destId="{770B0D46-46BD-4961-A568-1686F8940137}" srcOrd="0" destOrd="0" presId="urn:microsoft.com/office/officeart/2018/2/layout/IconVerticalSolidList"/>
    <dgm:cxn modelId="{A86668DC-7402-4071-9DD7-D910BE0E2C92}" srcId="{0C8D5AE6-D2EF-43A1-8083-D33DE9D89E07}" destId="{73D2B4F5-215E-4475-8CF6-3E9A7EC0510A}" srcOrd="1" destOrd="0" parTransId="{2F2BACD2-B234-4EBD-AB45-2330EBA94952}" sibTransId="{1504304C-E51A-4763-91BC-8B96FB735B10}"/>
    <dgm:cxn modelId="{BC0CABDC-1277-4D92-AA1B-4D4C2308DF2E}" srcId="{0C8D5AE6-D2EF-43A1-8083-D33DE9D89E07}" destId="{6E7F1EA8-ECD8-4AAD-8796-15A169DFEB41}" srcOrd="2" destOrd="0" parTransId="{D4985DB1-6CEA-440B-BB02-6EE56DAB3DBF}" sibTransId="{146F2A64-58CE-489B-B4FA-99BAA640BE77}"/>
    <dgm:cxn modelId="{284F6842-C2A2-4C02-8DC7-AAFD560729EE}" type="presParOf" srcId="{EBDD73BD-87BF-4F7C-8F68-D7C67109A918}" destId="{6BB670D6-B5F0-4C79-A0BD-588B5D5AB9B4}" srcOrd="0" destOrd="0" presId="urn:microsoft.com/office/officeart/2018/2/layout/IconVerticalSolidList"/>
    <dgm:cxn modelId="{7EB617C3-D77C-460B-BD6D-EC2DE6E0A0E3}" type="presParOf" srcId="{6BB670D6-B5F0-4C79-A0BD-588B5D5AB9B4}" destId="{B026704E-764A-47B0-88A0-890BF8461D3A}" srcOrd="0" destOrd="0" presId="urn:microsoft.com/office/officeart/2018/2/layout/IconVerticalSolidList"/>
    <dgm:cxn modelId="{EB5F4E4C-0998-445B-BF29-F6A7413BDF3E}" type="presParOf" srcId="{6BB670D6-B5F0-4C79-A0BD-588B5D5AB9B4}" destId="{615D4378-D146-418D-8B50-50225540F9AA}" srcOrd="1" destOrd="0" presId="urn:microsoft.com/office/officeart/2018/2/layout/IconVerticalSolidList"/>
    <dgm:cxn modelId="{D99BB8A3-3FE6-45EF-BA7F-7936AF157FFA}" type="presParOf" srcId="{6BB670D6-B5F0-4C79-A0BD-588B5D5AB9B4}" destId="{D4E850AB-AFF8-4B31-A469-78EA8B41B8EB}" srcOrd="2" destOrd="0" presId="urn:microsoft.com/office/officeart/2018/2/layout/IconVerticalSolidList"/>
    <dgm:cxn modelId="{CD216B23-B918-4C35-9E62-9FA311A6A482}" type="presParOf" srcId="{6BB670D6-B5F0-4C79-A0BD-588B5D5AB9B4}" destId="{D6CD71D9-157B-4E01-A8EB-55BA72DEA77E}" srcOrd="3" destOrd="0" presId="urn:microsoft.com/office/officeart/2018/2/layout/IconVerticalSolidList"/>
    <dgm:cxn modelId="{C721CC9C-7EA3-4716-8DA0-23595EEAA214}" type="presParOf" srcId="{EBDD73BD-87BF-4F7C-8F68-D7C67109A918}" destId="{FAFCB8F9-601A-456C-9D53-AF07BDD3AB53}" srcOrd="1" destOrd="0" presId="urn:microsoft.com/office/officeart/2018/2/layout/IconVerticalSolidList"/>
    <dgm:cxn modelId="{C81CF050-1449-4862-8E6C-8FB181CF6C32}" type="presParOf" srcId="{EBDD73BD-87BF-4F7C-8F68-D7C67109A918}" destId="{9D42F3C9-A7B3-49C2-BB3C-54281BD478A9}" srcOrd="2" destOrd="0" presId="urn:microsoft.com/office/officeart/2018/2/layout/IconVerticalSolidList"/>
    <dgm:cxn modelId="{DFA57A81-2753-4440-920C-AFA866C33605}" type="presParOf" srcId="{9D42F3C9-A7B3-49C2-BB3C-54281BD478A9}" destId="{3ED31BBD-8B4D-4FEB-9EBB-FC17DBE5EF12}" srcOrd="0" destOrd="0" presId="urn:microsoft.com/office/officeart/2018/2/layout/IconVerticalSolidList"/>
    <dgm:cxn modelId="{F7E6F6E2-0988-4956-B724-131A53D9F30F}" type="presParOf" srcId="{9D42F3C9-A7B3-49C2-BB3C-54281BD478A9}" destId="{796F643B-4E0F-4242-B3AB-E9450017D4E1}" srcOrd="1" destOrd="0" presId="urn:microsoft.com/office/officeart/2018/2/layout/IconVerticalSolidList"/>
    <dgm:cxn modelId="{0A2FAB23-1511-4DB3-82DE-5434CD28300D}" type="presParOf" srcId="{9D42F3C9-A7B3-49C2-BB3C-54281BD478A9}" destId="{F26DB7FE-A200-4B5F-89B9-DE6F28428022}" srcOrd="2" destOrd="0" presId="urn:microsoft.com/office/officeart/2018/2/layout/IconVerticalSolidList"/>
    <dgm:cxn modelId="{C0554182-F792-492B-9FD4-6462A9F08B01}" type="presParOf" srcId="{9D42F3C9-A7B3-49C2-BB3C-54281BD478A9}" destId="{86FEB66F-EAA3-4743-B705-EE02C81F62BE}" srcOrd="3" destOrd="0" presId="urn:microsoft.com/office/officeart/2018/2/layout/IconVerticalSolidList"/>
    <dgm:cxn modelId="{F866B3BC-634F-412D-B85A-2C448F637DFD}" type="presParOf" srcId="{EBDD73BD-87BF-4F7C-8F68-D7C67109A918}" destId="{B94B4442-322F-4A0C-A0F7-A408D28DE1E9}" srcOrd="3" destOrd="0" presId="urn:microsoft.com/office/officeart/2018/2/layout/IconVerticalSolidList"/>
    <dgm:cxn modelId="{283DABBA-3181-4DDC-A619-0598FF159C46}" type="presParOf" srcId="{EBDD73BD-87BF-4F7C-8F68-D7C67109A918}" destId="{C9783596-F40D-4C07-97E5-F296123475DD}" srcOrd="4" destOrd="0" presId="urn:microsoft.com/office/officeart/2018/2/layout/IconVerticalSolidList"/>
    <dgm:cxn modelId="{397591DE-4868-4569-A7EC-894CA871B382}" type="presParOf" srcId="{C9783596-F40D-4C07-97E5-F296123475DD}" destId="{CB9ECE62-0304-4C0C-821C-2B77475C9363}" srcOrd="0" destOrd="0" presId="urn:microsoft.com/office/officeart/2018/2/layout/IconVerticalSolidList"/>
    <dgm:cxn modelId="{942AE784-B3CD-4B49-B3B2-BB7D35325675}" type="presParOf" srcId="{C9783596-F40D-4C07-97E5-F296123475DD}" destId="{E00F5157-8C20-4C6A-8CF1-C2A004CB12BF}" srcOrd="1" destOrd="0" presId="urn:microsoft.com/office/officeart/2018/2/layout/IconVerticalSolidList"/>
    <dgm:cxn modelId="{5F44947E-B287-40D8-B8EA-A8E63E8D2E59}" type="presParOf" srcId="{C9783596-F40D-4C07-97E5-F296123475DD}" destId="{27BC3BFE-F9C9-4B34-A100-5A655C55E4EA}" srcOrd="2" destOrd="0" presId="urn:microsoft.com/office/officeart/2018/2/layout/IconVerticalSolidList"/>
    <dgm:cxn modelId="{18ABF31B-6991-4457-8FCC-81E754A6BF0C}" type="presParOf" srcId="{C9783596-F40D-4C07-97E5-F296123475DD}" destId="{770B0D46-46BD-4961-A568-1686F894013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A74E29-C99F-48B3-85A1-400FCE16F05E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30A0BED-FD4E-4D16-9864-C4F34CAA9268}">
      <dgm:prSet/>
      <dgm:spPr/>
      <dgm:t>
        <a:bodyPr/>
        <a:lstStyle/>
        <a:p>
          <a:r>
            <a:rPr lang="en-US"/>
            <a:t>After several iterations (MNIST classification, CIFAR10 classification, YOLO on VisDrone2019), we ultimately decided on a CNN for CIFAR10 classification, motivated by time and performance constraints</a:t>
          </a:r>
        </a:p>
      </dgm:t>
    </dgm:pt>
    <dgm:pt modelId="{CF53F78E-3658-451B-8A8D-DB0CDA785774}" type="parTrans" cxnId="{D641D869-4DE3-4D6D-98FF-95FA5982D60C}">
      <dgm:prSet/>
      <dgm:spPr/>
      <dgm:t>
        <a:bodyPr/>
        <a:lstStyle/>
        <a:p>
          <a:endParaRPr lang="en-US"/>
        </a:p>
      </dgm:t>
    </dgm:pt>
    <dgm:pt modelId="{0ED8A61B-A5A0-458A-8DFB-96BFC20ACA4E}" type="sibTrans" cxnId="{D641D869-4DE3-4D6D-98FF-95FA5982D60C}">
      <dgm:prSet/>
      <dgm:spPr/>
      <dgm:t>
        <a:bodyPr/>
        <a:lstStyle/>
        <a:p>
          <a:endParaRPr lang="en-US"/>
        </a:p>
      </dgm:t>
    </dgm:pt>
    <dgm:pt modelId="{550006A9-8C69-44E0-8310-911943D4AD74}">
      <dgm:prSet/>
      <dgm:spPr/>
      <dgm:t>
        <a:bodyPr/>
        <a:lstStyle/>
        <a:p>
          <a:r>
            <a:rPr lang="en-US"/>
            <a:t>After making custom implementations of the chosen attacks and defenses, they were compared to the implementations from IBM Research Adversarial Robustness Toolbox (ART)</a:t>
          </a:r>
        </a:p>
      </dgm:t>
    </dgm:pt>
    <dgm:pt modelId="{4398C4E3-1D26-4DBB-BE73-72104EC64119}" type="parTrans" cxnId="{F19F6AFB-71FE-4FAE-8AA8-180CFCC0C4F6}">
      <dgm:prSet/>
      <dgm:spPr/>
      <dgm:t>
        <a:bodyPr/>
        <a:lstStyle/>
        <a:p>
          <a:endParaRPr lang="en-US"/>
        </a:p>
      </dgm:t>
    </dgm:pt>
    <dgm:pt modelId="{BCA428BB-CCE8-4F81-8D5C-5B100863C8D7}" type="sibTrans" cxnId="{F19F6AFB-71FE-4FAE-8AA8-180CFCC0C4F6}">
      <dgm:prSet/>
      <dgm:spPr/>
      <dgm:t>
        <a:bodyPr/>
        <a:lstStyle/>
        <a:p>
          <a:endParaRPr lang="en-US"/>
        </a:p>
      </dgm:t>
    </dgm:pt>
    <dgm:pt modelId="{AB4EA693-C55B-4B33-84BD-50BF0859155D}">
      <dgm:prSet/>
      <dgm:spPr/>
      <dgm:t>
        <a:bodyPr/>
        <a:lstStyle/>
        <a:p>
          <a:r>
            <a:rPr lang="en-US"/>
            <a:t>Jacobian Regularization did not have enough widespread adoption in popular libraries, and such wasn't considered for benchmarking</a:t>
          </a:r>
        </a:p>
      </dgm:t>
    </dgm:pt>
    <dgm:pt modelId="{BCC3A467-B376-4680-8911-A6825633CC08}" type="parTrans" cxnId="{7D2E80B0-7883-4DE1-8A7F-DBAB32B361AB}">
      <dgm:prSet/>
      <dgm:spPr/>
      <dgm:t>
        <a:bodyPr/>
        <a:lstStyle/>
        <a:p>
          <a:endParaRPr lang="en-US"/>
        </a:p>
      </dgm:t>
    </dgm:pt>
    <dgm:pt modelId="{4F8ABB66-92A2-42BF-AB9D-23975C2349BB}" type="sibTrans" cxnId="{7D2E80B0-7883-4DE1-8A7F-DBAB32B361AB}">
      <dgm:prSet/>
      <dgm:spPr/>
      <dgm:t>
        <a:bodyPr/>
        <a:lstStyle/>
        <a:p>
          <a:endParaRPr lang="en-US"/>
        </a:p>
      </dgm:t>
    </dgm:pt>
    <dgm:pt modelId="{0AD76BA9-F843-4398-AF3E-D6752B753576}" type="pres">
      <dgm:prSet presAssocID="{1CA74E29-C99F-48B3-85A1-400FCE16F05E}" presName="vert0" presStyleCnt="0">
        <dgm:presLayoutVars>
          <dgm:dir/>
          <dgm:animOne val="branch"/>
          <dgm:animLvl val="lvl"/>
        </dgm:presLayoutVars>
      </dgm:prSet>
      <dgm:spPr/>
    </dgm:pt>
    <dgm:pt modelId="{6CC46694-472C-4DAA-AAFA-10CD91111B31}" type="pres">
      <dgm:prSet presAssocID="{130A0BED-FD4E-4D16-9864-C4F34CAA9268}" presName="thickLine" presStyleLbl="alignNode1" presStyleIdx="0" presStyleCnt="3"/>
      <dgm:spPr/>
    </dgm:pt>
    <dgm:pt modelId="{5328253C-95EF-435B-81D6-21B495D9E7DC}" type="pres">
      <dgm:prSet presAssocID="{130A0BED-FD4E-4D16-9864-C4F34CAA9268}" presName="horz1" presStyleCnt="0"/>
      <dgm:spPr/>
    </dgm:pt>
    <dgm:pt modelId="{92992083-0F95-4436-8247-E0CE7A51E564}" type="pres">
      <dgm:prSet presAssocID="{130A0BED-FD4E-4D16-9864-C4F34CAA9268}" presName="tx1" presStyleLbl="revTx" presStyleIdx="0" presStyleCnt="3"/>
      <dgm:spPr/>
    </dgm:pt>
    <dgm:pt modelId="{1935099B-DF60-4CE4-AE2C-D21D522DA095}" type="pres">
      <dgm:prSet presAssocID="{130A0BED-FD4E-4D16-9864-C4F34CAA9268}" presName="vert1" presStyleCnt="0"/>
      <dgm:spPr/>
    </dgm:pt>
    <dgm:pt modelId="{330BEA53-380C-4201-8C91-2549675AAE08}" type="pres">
      <dgm:prSet presAssocID="{550006A9-8C69-44E0-8310-911943D4AD74}" presName="thickLine" presStyleLbl="alignNode1" presStyleIdx="1" presStyleCnt="3"/>
      <dgm:spPr/>
    </dgm:pt>
    <dgm:pt modelId="{C344BCBB-157A-44D3-95DE-FBB2BE7B6E68}" type="pres">
      <dgm:prSet presAssocID="{550006A9-8C69-44E0-8310-911943D4AD74}" presName="horz1" presStyleCnt="0"/>
      <dgm:spPr/>
    </dgm:pt>
    <dgm:pt modelId="{583712CE-D35D-4A08-B845-72B5FAF8F647}" type="pres">
      <dgm:prSet presAssocID="{550006A9-8C69-44E0-8310-911943D4AD74}" presName="tx1" presStyleLbl="revTx" presStyleIdx="1" presStyleCnt="3"/>
      <dgm:spPr/>
    </dgm:pt>
    <dgm:pt modelId="{83704E5A-777E-403E-B45D-1C0310D5985A}" type="pres">
      <dgm:prSet presAssocID="{550006A9-8C69-44E0-8310-911943D4AD74}" presName="vert1" presStyleCnt="0"/>
      <dgm:spPr/>
    </dgm:pt>
    <dgm:pt modelId="{927B7345-BCE6-4B6A-883F-E4785CEA1776}" type="pres">
      <dgm:prSet presAssocID="{AB4EA693-C55B-4B33-84BD-50BF0859155D}" presName="thickLine" presStyleLbl="alignNode1" presStyleIdx="2" presStyleCnt="3"/>
      <dgm:spPr/>
    </dgm:pt>
    <dgm:pt modelId="{6AE1314E-D365-42F4-8976-19FBA1BC1074}" type="pres">
      <dgm:prSet presAssocID="{AB4EA693-C55B-4B33-84BD-50BF0859155D}" presName="horz1" presStyleCnt="0"/>
      <dgm:spPr/>
    </dgm:pt>
    <dgm:pt modelId="{CC66B842-5036-465E-AAA4-ED4E822F1212}" type="pres">
      <dgm:prSet presAssocID="{AB4EA693-C55B-4B33-84BD-50BF0859155D}" presName="tx1" presStyleLbl="revTx" presStyleIdx="2" presStyleCnt="3"/>
      <dgm:spPr/>
    </dgm:pt>
    <dgm:pt modelId="{19D1D5AD-9ADC-4ABD-BD58-41C1956046C9}" type="pres">
      <dgm:prSet presAssocID="{AB4EA693-C55B-4B33-84BD-50BF0859155D}" presName="vert1" presStyleCnt="0"/>
      <dgm:spPr/>
    </dgm:pt>
  </dgm:ptLst>
  <dgm:cxnLst>
    <dgm:cxn modelId="{31959535-BA60-4F6B-B3E1-8B2F6455DD28}" type="presOf" srcId="{130A0BED-FD4E-4D16-9864-C4F34CAA9268}" destId="{92992083-0F95-4436-8247-E0CE7A51E564}" srcOrd="0" destOrd="0" presId="urn:microsoft.com/office/officeart/2008/layout/LinedList"/>
    <dgm:cxn modelId="{D641D869-4DE3-4D6D-98FF-95FA5982D60C}" srcId="{1CA74E29-C99F-48B3-85A1-400FCE16F05E}" destId="{130A0BED-FD4E-4D16-9864-C4F34CAA9268}" srcOrd="0" destOrd="0" parTransId="{CF53F78E-3658-451B-8A8D-DB0CDA785774}" sibTransId="{0ED8A61B-A5A0-458A-8DFB-96BFC20ACA4E}"/>
    <dgm:cxn modelId="{DCA84589-DCF4-451C-87F7-A43CA3B42577}" type="presOf" srcId="{550006A9-8C69-44E0-8310-911943D4AD74}" destId="{583712CE-D35D-4A08-B845-72B5FAF8F647}" srcOrd="0" destOrd="0" presId="urn:microsoft.com/office/officeart/2008/layout/LinedList"/>
    <dgm:cxn modelId="{72BD4799-DC5D-4E0B-A15D-9F56A8900415}" type="presOf" srcId="{1CA74E29-C99F-48B3-85A1-400FCE16F05E}" destId="{0AD76BA9-F843-4398-AF3E-D6752B753576}" srcOrd="0" destOrd="0" presId="urn:microsoft.com/office/officeart/2008/layout/LinedList"/>
    <dgm:cxn modelId="{7D2E80B0-7883-4DE1-8A7F-DBAB32B361AB}" srcId="{1CA74E29-C99F-48B3-85A1-400FCE16F05E}" destId="{AB4EA693-C55B-4B33-84BD-50BF0859155D}" srcOrd="2" destOrd="0" parTransId="{BCC3A467-B376-4680-8911-A6825633CC08}" sibTransId="{4F8ABB66-92A2-42BF-AB9D-23975C2349BB}"/>
    <dgm:cxn modelId="{70B144BB-2453-4BDE-B97D-63B2E9D72466}" type="presOf" srcId="{AB4EA693-C55B-4B33-84BD-50BF0859155D}" destId="{CC66B842-5036-465E-AAA4-ED4E822F1212}" srcOrd="0" destOrd="0" presId="urn:microsoft.com/office/officeart/2008/layout/LinedList"/>
    <dgm:cxn modelId="{F19F6AFB-71FE-4FAE-8AA8-180CFCC0C4F6}" srcId="{1CA74E29-C99F-48B3-85A1-400FCE16F05E}" destId="{550006A9-8C69-44E0-8310-911943D4AD74}" srcOrd="1" destOrd="0" parTransId="{4398C4E3-1D26-4DBB-BE73-72104EC64119}" sibTransId="{BCA428BB-CCE8-4F81-8D5C-5B100863C8D7}"/>
    <dgm:cxn modelId="{76B1C525-DF3B-4521-84A0-8A40B6B8F685}" type="presParOf" srcId="{0AD76BA9-F843-4398-AF3E-D6752B753576}" destId="{6CC46694-472C-4DAA-AAFA-10CD91111B31}" srcOrd="0" destOrd="0" presId="urn:microsoft.com/office/officeart/2008/layout/LinedList"/>
    <dgm:cxn modelId="{42BDF6DC-F3FD-4DFA-A559-0FEE37FECD7E}" type="presParOf" srcId="{0AD76BA9-F843-4398-AF3E-D6752B753576}" destId="{5328253C-95EF-435B-81D6-21B495D9E7DC}" srcOrd="1" destOrd="0" presId="urn:microsoft.com/office/officeart/2008/layout/LinedList"/>
    <dgm:cxn modelId="{05068E79-C33F-4A5B-9ED7-162CC3DB1188}" type="presParOf" srcId="{5328253C-95EF-435B-81D6-21B495D9E7DC}" destId="{92992083-0F95-4436-8247-E0CE7A51E564}" srcOrd="0" destOrd="0" presId="urn:microsoft.com/office/officeart/2008/layout/LinedList"/>
    <dgm:cxn modelId="{7A6EFDBC-A33C-4D17-BF1E-2C868A1B5F45}" type="presParOf" srcId="{5328253C-95EF-435B-81D6-21B495D9E7DC}" destId="{1935099B-DF60-4CE4-AE2C-D21D522DA095}" srcOrd="1" destOrd="0" presId="urn:microsoft.com/office/officeart/2008/layout/LinedList"/>
    <dgm:cxn modelId="{160A2529-95CE-4129-98D4-933AA6F58E3C}" type="presParOf" srcId="{0AD76BA9-F843-4398-AF3E-D6752B753576}" destId="{330BEA53-380C-4201-8C91-2549675AAE08}" srcOrd="2" destOrd="0" presId="urn:microsoft.com/office/officeart/2008/layout/LinedList"/>
    <dgm:cxn modelId="{B910F9C3-6E81-47DE-8650-7092D5EA63C0}" type="presParOf" srcId="{0AD76BA9-F843-4398-AF3E-D6752B753576}" destId="{C344BCBB-157A-44D3-95DE-FBB2BE7B6E68}" srcOrd="3" destOrd="0" presId="urn:microsoft.com/office/officeart/2008/layout/LinedList"/>
    <dgm:cxn modelId="{93AC77FF-4364-49CF-94BD-C333396C4885}" type="presParOf" srcId="{C344BCBB-157A-44D3-95DE-FBB2BE7B6E68}" destId="{583712CE-D35D-4A08-B845-72B5FAF8F647}" srcOrd="0" destOrd="0" presId="urn:microsoft.com/office/officeart/2008/layout/LinedList"/>
    <dgm:cxn modelId="{A3D586F0-3079-40FF-80BC-9B069781E938}" type="presParOf" srcId="{C344BCBB-157A-44D3-95DE-FBB2BE7B6E68}" destId="{83704E5A-777E-403E-B45D-1C0310D5985A}" srcOrd="1" destOrd="0" presId="urn:microsoft.com/office/officeart/2008/layout/LinedList"/>
    <dgm:cxn modelId="{69A6D2BB-12D2-47EB-94C6-B901202A4167}" type="presParOf" srcId="{0AD76BA9-F843-4398-AF3E-D6752B753576}" destId="{927B7345-BCE6-4B6A-883F-E4785CEA1776}" srcOrd="4" destOrd="0" presId="urn:microsoft.com/office/officeart/2008/layout/LinedList"/>
    <dgm:cxn modelId="{BE83B46E-838A-4186-ADEF-920ECA8B97D2}" type="presParOf" srcId="{0AD76BA9-F843-4398-AF3E-D6752B753576}" destId="{6AE1314E-D365-42F4-8976-19FBA1BC1074}" srcOrd="5" destOrd="0" presId="urn:microsoft.com/office/officeart/2008/layout/LinedList"/>
    <dgm:cxn modelId="{413B4F88-F919-414F-9DCE-AD4975B571AC}" type="presParOf" srcId="{6AE1314E-D365-42F4-8976-19FBA1BC1074}" destId="{CC66B842-5036-465E-AAA4-ED4E822F1212}" srcOrd="0" destOrd="0" presId="urn:microsoft.com/office/officeart/2008/layout/LinedList"/>
    <dgm:cxn modelId="{AEE37B76-FEAA-4C1E-96CB-EF234F6CE971}" type="presParOf" srcId="{6AE1314E-D365-42F4-8976-19FBA1BC1074}" destId="{19D1D5AD-9ADC-4ABD-BD58-41C1956046C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264708-F278-4BCE-BB2D-2347AD2CF4FD}">
      <dsp:nvSpPr>
        <dsp:cNvPr id="0" name=""/>
        <dsp:cNvSpPr/>
      </dsp:nvSpPr>
      <dsp:spPr>
        <a:xfrm>
          <a:off x="0" y="4413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9366E0-7D08-466F-BC53-CBEBE9F88ADE}">
      <dsp:nvSpPr>
        <dsp:cNvPr id="0" name=""/>
        <dsp:cNvSpPr/>
      </dsp:nvSpPr>
      <dsp:spPr>
        <a:xfrm>
          <a:off x="284404" y="215954"/>
          <a:ext cx="517099" cy="5170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717AC-E3C1-437D-BA18-0E4211C5B835}">
      <dsp:nvSpPr>
        <dsp:cNvPr id="0" name=""/>
        <dsp:cNvSpPr/>
      </dsp:nvSpPr>
      <dsp:spPr>
        <a:xfrm>
          <a:off x="1085908" y="4413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rial"/>
              <a:cs typeface="Arial"/>
            </a:rPr>
            <a:t>Introduction</a:t>
          </a:r>
        </a:p>
      </dsp:txBody>
      <dsp:txXfrm>
        <a:off x="1085908" y="4413"/>
        <a:ext cx="5711766" cy="940180"/>
      </dsp:txXfrm>
    </dsp:sp>
    <dsp:sp modelId="{56222BA6-D75C-422A-85F6-58DF5CC66AE5}">
      <dsp:nvSpPr>
        <dsp:cNvPr id="0" name=""/>
        <dsp:cNvSpPr/>
      </dsp:nvSpPr>
      <dsp:spPr>
        <a:xfrm>
          <a:off x="0" y="1179639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284141-E1C1-4EC4-ABB2-5A16FA441A36}">
      <dsp:nvSpPr>
        <dsp:cNvPr id="0" name=""/>
        <dsp:cNvSpPr/>
      </dsp:nvSpPr>
      <dsp:spPr>
        <a:xfrm>
          <a:off x="284404" y="1391180"/>
          <a:ext cx="517099" cy="5170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2F1AC2-493C-444E-982C-866E6241F178}">
      <dsp:nvSpPr>
        <dsp:cNvPr id="0" name=""/>
        <dsp:cNvSpPr/>
      </dsp:nvSpPr>
      <dsp:spPr>
        <a:xfrm>
          <a:off x="1085908" y="1179639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rial"/>
              <a:cs typeface="Arial"/>
            </a:rPr>
            <a:t>Network Architecture</a:t>
          </a:r>
        </a:p>
      </dsp:txBody>
      <dsp:txXfrm>
        <a:off x="1085908" y="1179639"/>
        <a:ext cx="5711766" cy="940180"/>
      </dsp:txXfrm>
    </dsp:sp>
    <dsp:sp modelId="{1A5A16FC-27FF-415B-A68D-4BFBBEFDAA8A}">
      <dsp:nvSpPr>
        <dsp:cNvPr id="0" name=""/>
        <dsp:cNvSpPr/>
      </dsp:nvSpPr>
      <dsp:spPr>
        <a:xfrm>
          <a:off x="0" y="2354865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E5DF8B-4684-4312-BA86-1FB6146599CE}">
      <dsp:nvSpPr>
        <dsp:cNvPr id="0" name=""/>
        <dsp:cNvSpPr/>
      </dsp:nvSpPr>
      <dsp:spPr>
        <a:xfrm>
          <a:off x="284404" y="2566406"/>
          <a:ext cx="517099" cy="5170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100765-987D-4B7F-AA2A-719DDF7656AF}">
      <dsp:nvSpPr>
        <dsp:cNvPr id="0" name=""/>
        <dsp:cNvSpPr/>
      </dsp:nvSpPr>
      <dsp:spPr>
        <a:xfrm>
          <a:off x="1085908" y="2354865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rial"/>
              <a:cs typeface="Arial"/>
            </a:rPr>
            <a:t>Attacks</a:t>
          </a:r>
        </a:p>
      </dsp:txBody>
      <dsp:txXfrm>
        <a:off x="1085908" y="2354865"/>
        <a:ext cx="5711766" cy="940180"/>
      </dsp:txXfrm>
    </dsp:sp>
    <dsp:sp modelId="{93D7A563-5A07-48EF-8344-C31C0A756D62}">
      <dsp:nvSpPr>
        <dsp:cNvPr id="0" name=""/>
        <dsp:cNvSpPr/>
      </dsp:nvSpPr>
      <dsp:spPr>
        <a:xfrm>
          <a:off x="0" y="3530091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F92EBD-0EE9-4B79-A6A0-9131F38EE057}">
      <dsp:nvSpPr>
        <dsp:cNvPr id="0" name=""/>
        <dsp:cNvSpPr/>
      </dsp:nvSpPr>
      <dsp:spPr>
        <a:xfrm>
          <a:off x="284404" y="3741632"/>
          <a:ext cx="517099" cy="5170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8F8E0A-3C6E-4A06-932C-BA033EF62805}">
      <dsp:nvSpPr>
        <dsp:cNvPr id="0" name=""/>
        <dsp:cNvSpPr/>
      </dsp:nvSpPr>
      <dsp:spPr>
        <a:xfrm>
          <a:off x="1085908" y="3530091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rial"/>
              <a:cs typeface="Arial"/>
            </a:rPr>
            <a:t>Defenses</a:t>
          </a:r>
        </a:p>
      </dsp:txBody>
      <dsp:txXfrm>
        <a:off x="1085908" y="3530091"/>
        <a:ext cx="5711766" cy="940180"/>
      </dsp:txXfrm>
    </dsp:sp>
    <dsp:sp modelId="{468FB48C-9311-4335-92FC-541092B0AF53}">
      <dsp:nvSpPr>
        <dsp:cNvPr id="0" name=""/>
        <dsp:cNvSpPr/>
      </dsp:nvSpPr>
      <dsp:spPr>
        <a:xfrm>
          <a:off x="0" y="4705317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A53BB2-50F9-48C1-BA27-FC5AED5920A0}">
      <dsp:nvSpPr>
        <dsp:cNvPr id="0" name=""/>
        <dsp:cNvSpPr/>
      </dsp:nvSpPr>
      <dsp:spPr>
        <a:xfrm>
          <a:off x="284404" y="4916857"/>
          <a:ext cx="517099" cy="51709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DACE2-622D-47BB-9DF9-D8800C68A7FB}">
      <dsp:nvSpPr>
        <dsp:cNvPr id="0" name=""/>
        <dsp:cNvSpPr/>
      </dsp:nvSpPr>
      <dsp:spPr>
        <a:xfrm>
          <a:off x="1085908" y="4705317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rial"/>
              <a:cs typeface="Arial"/>
            </a:rPr>
            <a:t>Results</a:t>
          </a:r>
        </a:p>
      </dsp:txBody>
      <dsp:txXfrm>
        <a:off x="1085908" y="4705317"/>
        <a:ext cx="5711766" cy="9401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26704E-764A-47B0-88A0-890BF8461D3A}">
      <dsp:nvSpPr>
        <dsp:cNvPr id="0" name=""/>
        <dsp:cNvSpPr/>
      </dsp:nvSpPr>
      <dsp:spPr>
        <a:xfrm>
          <a:off x="0" y="491"/>
          <a:ext cx="10058399" cy="11492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5D4378-D146-418D-8B50-50225540F9AA}">
      <dsp:nvSpPr>
        <dsp:cNvPr id="0" name=""/>
        <dsp:cNvSpPr/>
      </dsp:nvSpPr>
      <dsp:spPr>
        <a:xfrm>
          <a:off x="347648" y="259072"/>
          <a:ext cx="632087" cy="6320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CD71D9-157B-4E01-A8EB-55BA72DEA77E}">
      <dsp:nvSpPr>
        <dsp:cNvPr id="0" name=""/>
        <dsp:cNvSpPr/>
      </dsp:nvSpPr>
      <dsp:spPr>
        <a:xfrm>
          <a:off x="1327384" y="491"/>
          <a:ext cx="8731015" cy="1149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29" tIns="121629" rIns="121629" bIns="12162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rial"/>
              <a:cs typeface="Arial"/>
            </a:rPr>
            <a:t>Task: object recognition</a:t>
          </a:r>
        </a:p>
      </dsp:txBody>
      <dsp:txXfrm>
        <a:off x="1327384" y="491"/>
        <a:ext cx="8731015" cy="1149250"/>
      </dsp:txXfrm>
    </dsp:sp>
    <dsp:sp modelId="{3ED31BBD-8B4D-4FEB-9EBB-FC17DBE5EF12}">
      <dsp:nvSpPr>
        <dsp:cNvPr id="0" name=""/>
        <dsp:cNvSpPr/>
      </dsp:nvSpPr>
      <dsp:spPr>
        <a:xfrm>
          <a:off x="0" y="1437054"/>
          <a:ext cx="10058399" cy="11492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6F643B-4E0F-4242-B3AB-E9450017D4E1}">
      <dsp:nvSpPr>
        <dsp:cNvPr id="0" name=""/>
        <dsp:cNvSpPr/>
      </dsp:nvSpPr>
      <dsp:spPr>
        <a:xfrm>
          <a:off x="347648" y="1695636"/>
          <a:ext cx="632087" cy="6320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FEB66F-EAA3-4743-B705-EE02C81F62BE}">
      <dsp:nvSpPr>
        <dsp:cNvPr id="0" name=""/>
        <dsp:cNvSpPr/>
      </dsp:nvSpPr>
      <dsp:spPr>
        <a:xfrm>
          <a:off x="1327384" y="1437054"/>
          <a:ext cx="8731015" cy="1149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29" tIns="121629" rIns="121629" bIns="12162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alibri"/>
              <a:ea typeface="Calibri"/>
              <a:cs typeface="Calibri"/>
            </a:rPr>
            <a:t>Defenses: Adversarial Training, Jacobian Regularization</a:t>
          </a:r>
          <a:endParaRPr lang="en-US" sz="2500" kern="1200">
            <a:latin typeface="Arial"/>
            <a:cs typeface="Arial"/>
          </a:endParaRPr>
        </a:p>
      </dsp:txBody>
      <dsp:txXfrm>
        <a:off x="1327384" y="1437054"/>
        <a:ext cx="8731015" cy="1149250"/>
      </dsp:txXfrm>
    </dsp:sp>
    <dsp:sp modelId="{CB9ECE62-0304-4C0C-821C-2B77475C9363}">
      <dsp:nvSpPr>
        <dsp:cNvPr id="0" name=""/>
        <dsp:cNvSpPr/>
      </dsp:nvSpPr>
      <dsp:spPr>
        <a:xfrm>
          <a:off x="0" y="2873618"/>
          <a:ext cx="10058399" cy="11492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0F5157-8C20-4C6A-8CF1-C2A004CB12BF}">
      <dsp:nvSpPr>
        <dsp:cNvPr id="0" name=""/>
        <dsp:cNvSpPr/>
      </dsp:nvSpPr>
      <dsp:spPr>
        <a:xfrm>
          <a:off x="347648" y="3132199"/>
          <a:ext cx="632087" cy="6320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0B0D46-46BD-4961-A568-1686F8940137}">
      <dsp:nvSpPr>
        <dsp:cNvPr id="0" name=""/>
        <dsp:cNvSpPr/>
      </dsp:nvSpPr>
      <dsp:spPr>
        <a:xfrm>
          <a:off x="1327384" y="2873618"/>
          <a:ext cx="8731015" cy="1149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29" tIns="121629" rIns="121629" bIns="12162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alibri"/>
              <a:ea typeface="Calibri"/>
              <a:cs typeface="Calibri"/>
            </a:rPr>
            <a:t>Attacks: PGD, </a:t>
          </a:r>
          <a:r>
            <a:rPr lang="en-US" sz="2500" kern="1200" err="1">
              <a:latin typeface="Calibri"/>
              <a:ea typeface="Calibri"/>
              <a:cs typeface="Calibri"/>
            </a:rPr>
            <a:t>DeepFool</a:t>
          </a:r>
          <a:endParaRPr lang="en-US" sz="2500" kern="1200">
            <a:latin typeface="Calibri"/>
            <a:ea typeface="Calibri"/>
            <a:cs typeface="Calibri"/>
          </a:endParaRPr>
        </a:p>
      </dsp:txBody>
      <dsp:txXfrm>
        <a:off x="1327384" y="2873618"/>
        <a:ext cx="8731015" cy="11492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C46694-472C-4DAA-AAFA-10CD91111B31}">
      <dsp:nvSpPr>
        <dsp:cNvPr id="0" name=""/>
        <dsp:cNvSpPr/>
      </dsp:nvSpPr>
      <dsp:spPr>
        <a:xfrm>
          <a:off x="0" y="2758"/>
          <a:ext cx="679767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2992083-0F95-4436-8247-E0CE7A51E564}">
      <dsp:nvSpPr>
        <dsp:cNvPr id="0" name=""/>
        <dsp:cNvSpPr/>
      </dsp:nvSpPr>
      <dsp:spPr>
        <a:xfrm>
          <a:off x="0" y="2758"/>
          <a:ext cx="6797675" cy="1881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After several iterations (MNIST classification, CIFAR10 classification, YOLO on VisDrone2019), we ultimately decided on a CNN for CIFAR10 classification, motivated by time and performance constraints</a:t>
          </a:r>
        </a:p>
      </dsp:txBody>
      <dsp:txXfrm>
        <a:off x="0" y="2758"/>
        <a:ext cx="6797675" cy="1881464"/>
      </dsp:txXfrm>
    </dsp:sp>
    <dsp:sp modelId="{330BEA53-380C-4201-8C91-2549675AAE08}">
      <dsp:nvSpPr>
        <dsp:cNvPr id="0" name=""/>
        <dsp:cNvSpPr/>
      </dsp:nvSpPr>
      <dsp:spPr>
        <a:xfrm>
          <a:off x="0" y="1884223"/>
          <a:ext cx="6797675" cy="0"/>
        </a:xfrm>
        <a:prstGeom prst="line">
          <a:avLst/>
        </a:prstGeom>
        <a:gradFill rotWithShape="0">
          <a:gsLst>
            <a:gs pos="0">
              <a:schemeClr val="accent2">
                <a:hueOff val="-729781"/>
                <a:satOff val="-6367"/>
                <a:lumOff val="-8236"/>
                <a:alphaOff val="0"/>
                <a:shade val="85000"/>
                <a:satMod val="130000"/>
              </a:schemeClr>
            </a:gs>
            <a:gs pos="34000">
              <a:schemeClr val="accent2">
                <a:hueOff val="-729781"/>
                <a:satOff val="-6367"/>
                <a:lumOff val="-8236"/>
                <a:alphaOff val="0"/>
                <a:shade val="87000"/>
                <a:satMod val="125000"/>
              </a:schemeClr>
            </a:gs>
            <a:gs pos="70000">
              <a:schemeClr val="accent2">
                <a:hueOff val="-729781"/>
                <a:satOff val="-6367"/>
                <a:lumOff val="-8236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-729781"/>
                <a:satOff val="-6367"/>
                <a:lumOff val="-8236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2">
              <a:hueOff val="-729781"/>
              <a:satOff val="-6367"/>
              <a:lumOff val="-8236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3712CE-D35D-4A08-B845-72B5FAF8F647}">
      <dsp:nvSpPr>
        <dsp:cNvPr id="0" name=""/>
        <dsp:cNvSpPr/>
      </dsp:nvSpPr>
      <dsp:spPr>
        <a:xfrm>
          <a:off x="0" y="1884223"/>
          <a:ext cx="6797675" cy="1881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After making custom implementations of the chosen attacks and defenses, they were compared to the implementations from IBM Research Adversarial Robustness Toolbox (ART)</a:t>
          </a:r>
        </a:p>
      </dsp:txBody>
      <dsp:txXfrm>
        <a:off x="0" y="1884223"/>
        <a:ext cx="6797675" cy="1881464"/>
      </dsp:txXfrm>
    </dsp:sp>
    <dsp:sp modelId="{927B7345-BCE6-4B6A-883F-E4785CEA1776}">
      <dsp:nvSpPr>
        <dsp:cNvPr id="0" name=""/>
        <dsp:cNvSpPr/>
      </dsp:nvSpPr>
      <dsp:spPr>
        <a:xfrm>
          <a:off x="0" y="3765688"/>
          <a:ext cx="6797675" cy="0"/>
        </a:xfrm>
        <a:prstGeom prst="line">
          <a:avLst/>
        </a:prstGeom>
        <a:gradFill rotWithShape="0">
          <a:gsLst>
            <a:gs pos="0">
              <a:schemeClr val="accent2">
                <a:hueOff val="-1459563"/>
                <a:satOff val="-12734"/>
                <a:lumOff val="-16471"/>
                <a:alphaOff val="0"/>
                <a:shade val="85000"/>
                <a:satMod val="130000"/>
              </a:schemeClr>
            </a:gs>
            <a:gs pos="34000">
              <a:schemeClr val="accent2">
                <a:hueOff val="-1459563"/>
                <a:satOff val="-12734"/>
                <a:lumOff val="-16471"/>
                <a:alphaOff val="0"/>
                <a:shade val="87000"/>
                <a:satMod val="125000"/>
              </a:schemeClr>
            </a:gs>
            <a:gs pos="70000">
              <a:schemeClr val="accent2">
                <a:hueOff val="-1459563"/>
                <a:satOff val="-12734"/>
                <a:lumOff val="-16471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-1459563"/>
                <a:satOff val="-12734"/>
                <a:lumOff val="-16471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2">
              <a:hueOff val="-1459563"/>
              <a:satOff val="-12734"/>
              <a:lumOff val="-16471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C66B842-5036-465E-AAA4-ED4E822F1212}">
      <dsp:nvSpPr>
        <dsp:cNvPr id="0" name=""/>
        <dsp:cNvSpPr/>
      </dsp:nvSpPr>
      <dsp:spPr>
        <a:xfrm>
          <a:off x="0" y="3765688"/>
          <a:ext cx="6797675" cy="1881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Jacobian Regularization did not have enough widespread adoption in popular libraries, and such wasn't considered for benchmarking</a:t>
          </a:r>
        </a:p>
      </dsp:txBody>
      <dsp:txXfrm>
        <a:off x="0" y="3765688"/>
        <a:ext cx="6797675" cy="18814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13B08-982D-40A2-8E68-4B2ECFA3DA3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693BA-1E6E-4922-919B-A9530735D2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45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13B08-982D-40A2-8E68-4B2ECFA3DA3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693BA-1E6E-4922-919B-A9530735D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039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13B08-982D-40A2-8E68-4B2ECFA3DA3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693BA-1E6E-4922-919B-A9530735D2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450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13B08-982D-40A2-8E68-4B2ECFA3DA3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693BA-1E6E-4922-919B-A9530735D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90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13B08-982D-40A2-8E68-4B2ECFA3DA3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693BA-1E6E-4922-919B-A9530735D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120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13B08-982D-40A2-8E68-4B2ECFA3DA3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693BA-1E6E-4922-919B-A9530735D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8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13B08-982D-40A2-8E68-4B2ECFA3DA3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693BA-1E6E-4922-919B-A9530735D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19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BC13B08-982D-40A2-8E68-4B2ECFA3DA3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9693BA-1E6E-4922-919B-A9530735D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09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13B08-982D-40A2-8E68-4B2ECFA3DA3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693BA-1E6E-4922-919B-A9530735D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00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13B08-982D-40A2-8E68-4B2ECFA3DA3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693BA-1E6E-4922-919B-A9530735D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17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13B08-982D-40A2-8E68-4B2ECFA3DA3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693BA-1E6E-4922-919B-A9530735D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6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BC13B08-982D-40A2-8E68-4B2ECFA3DA3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B9693BA-1E6E-4922-919B-A9530735D2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7837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C86CCB5-9B53-4BD9-8740-6CBE8960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A1574F-3496-44AA-F3E3-C7FB69A50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423" y="2342720"/>
            <a:ext cx="10909073" cy="1654629"/>
          </a:xfrm>
        </p:spPr>
        <p:txBody>
          <a:bodyPr>
            <a:normAutofit/>
          </a:bodyPr>
          <a:lstStyle/>
          <a:p>
            <a:pPr algn="ctr"/>
            <a:r>
              <a:rPr lang="en-US" sz="6000">
                <a:latin typeface="Arial"/>
                <a:cs typeface="Arial"/>
              </a:rPr>
              <a:t>IA3 – Adversarial Neural Networks Project </a:t>
            </a:r>
            <a:endParaRPr lang="en-US" sz="6000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25610E-EA23-66AD-E504-C2D92AB28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474" y="4613773"/>
            <a:ext cx="9622971" cy="77174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Voicu Eduard-Andrei   Meche Mircea-Ionut</a:t>
            </a:r>
            <a:endParaRPr lang="en-US" sz="17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Calibri Light"/>
              <a:cs typeface="Arial"/>
            </a:endParaRPr>
          </a:p>
          <a:p>
            <a:pPr algn="ctr"/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BIOSINF 2025</a:t>
            </a:r>
            <a:endParaRPr lang="en-US" sz="17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Calibri Light"/>
              <a:cs typeface="Arial"/>
            </a:endParaRPr>
          </a:p>
        </p:txBody>
      </p:sp>
      <p:pic>
        <p:nvPicPr>
          <p:cNvPr id="23" name="Graphic 22" descr="Brain">
            <a:extLst>
              <a:ext uri="{FF2B5EF4-FFF2-40B4-BE49-F238E27FC236}">
                <a16:creationId xmlns:a16="http://schemas.microsoft.com/office/drawing/2014/main" id="{95E427A9-AA2A-3A63-C43C-8FFC21CD3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6991" y="460778"/>
            <a:ext cx="1634223" cy="1614171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BA2A20C-6526-493D-B46E-8C6B93661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5159" y="5433708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E98FB199-0E3B-4D0B-A532-0E3C3AD7D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76381BC-82BB-4F20-A996-78CD4365E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5296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057C6D-CCCA-403B-9CEC-B76B7703B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4FA5FE-E54B-4C0E-B9F9-55CE13FCC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052BA3-C5F9-88F0-A1C8-6BB0741BE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  <a:latin typeface="Arial"/>
                <a:cs typeface="Arial"/>
              </a:rPr>
              <a:t>Table of contents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60188E-2A5C-4426-BA57-5B0B2333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2BCD15-C074-4296-343F-2A2FDE85E4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9201781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0167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C35F0B8-09F3-45B3-8682-6A9513154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74F4D4F-F0ED-2ECD-DCFC-4186FC753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>
                <a:latin typeface="Arial"/>
                <a:cs typeface="Arial"/>
              </a:rPr>
              <a:t>Introduction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49DF91-A113-43B4-9123-2AECD9A15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51EB00-0076-4CAF-ABE3-7D9B0702A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F18CC0-961E-9321-237B-B466ED8869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017074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9102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B4BDF-780D-1DA7-EFDD-E6EEC3AF1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33" y="605896"/>
            <a:ext cx="3084844" cy="5646208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  <a:latin typeface="Arial"/>
                <a:ea typeface="Calibri Light"/>
                <a:cs typeface="Arial"/>
              </a:rPr>
              <a:t>Neural Architecture</a:t>
            </a:r>
            <a:endParaRPr lang="en-US" sz="3600" dirty="0">
              <a:latin typeface="Arial"/>
              <a:ea typeface="Calibri Light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53F15-0460-ED3E-FDAE-4A59FB9C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1848" y="321294"/>
            <a:ext cx="6863518" cy="6389846"/>
          </a:xfrm>
        </p:spPr>
        <p:txBody>
          <a:bodyPr vert="horz" lIns="0" tIns="45720" rIns="0" bIns="45720" rtlCol="0" anchor="ctr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US">
                <a:latin typeface="Arial"/>
                <a:ea typeface="Calibri"/>
                <a:cs typeface="Arial"/>
              </a:rPr>
              <a:t>CNN architecture:</a:t>
            </a:r>
          </a:p>
          <a:p>
            <a:pPr marL="383540" lvl="1" algn="just">
              <a:buFont typeface="Arial" pitchFamily="34" charset="0"/>
              <a:buChar char="•"/>
            </a:pPr>
            <a:r>
              <a:rPr lang="en-US">
                <a:latin typeface="Arial"/>
                <a:ea typeface="Calibri"/>
                <a:cs typeface="Arial"/>
              </a:rPr>
              <a:t>Convolution, 32 neurons, 3x3 kernel</a:t>
            </a:r>
          </a:p>
          <a:p>
            <a:pPr marL="383540" lvl="1" algn="just">
              <a:buFont typeface="Arial" pitchFamily="34" charset="0"/>
              <a:buChar char="•"/>
            </a:pPr>
            <a:r>
              <a:rPr lang="en-US">
                <a:latin typeface="Arial"/>
                <a:ea typeface="Calibri"/>
                <a:cs typeface="Arial"/>
              </a:rPr>
              <a:t>Batch Normalization</a:t>
            </a:r>
          </a:p>
          <a:p>
            <a:pPr marL="383540" lvl="1" algn="just">
              <a:buFont typeface="Arial" pitchFamily="34" charset="0"/>
              <a:buChar char="•"/>
            </a:pPr>
            <a:r>
              <a:rPr lang="en-US" err="1">
                <a:latin typeface="Arial"/>
                <a:ea typeface="Calibri"/>
                <a:cs typeface="Arial"/>
              </a:rPr>
              <a:t>LeakyReLU</a:t>
            </a:r>
            <a:r>
              <a:rPr lang="en-US">
                <a:latin typeface="Arial"/>
                <a:ea typeface="Calibri"/>
                <a:cs typeface="Arial"/>
              </a:rPr>
              <a:t> activation</a:t>
            </a:r>
          </a:p>
          <a:p>
            <a:pPr marL="383540" lvl="1" algn="just">
              <a:buFont typeface="Arial" pitchFamily="34" charset="0"/>
              <a:buChar char="•"/>
            </a:pPr>
            <a:r>
              <a:rPr lang="en-US">
                <a:latin typeface="Arial"/>
                <a:ea typeface="Calibri"/>
                <a:cs typeface="Arial"/>
              </a:rPr>
              <a:t>Max Pooling, 3x3 kernel</a:t>
            </a:r>
          </a:p>
          <a:p>
            <a:pPr marL="383540" lvl="1" algn="just">
              <a:buFont typeface="Arial" pitchFamily="34" charset="0"/>
              <a:buChar char="•"/>
            </a:pPr>
            <a:endParaRPr lang="en-US">
              <a:latin typeface="Arial"/>
              <a:ea typeface="Calibri"/>
              <a:cs typeface="Arial"/>
            </a:endParaRPr>
          </a:p>
          <a:p>
            <a:pPr marL="383540" lvl="1" algn="just">
              <a:buFont typeface="Arial" pitchFamily="34" charset="0"/>
              <a:buChar char="•"/>
            </a:pPr>
            <a:r>
              <a:rPr lang="en-US">
                <a:latin typeface="Arial"/>
                <a:ea typeface="Calibri"/>
                <a:cs typeface="Arial"/>
              </a:rPr>
              <a:t>Convolution, 64 neurons, 3x3 kernel</a:t>
            </a:r>
          </a:p>
          <a:p>
            <a:pPr marL="383540" lvl="1" algn="just">
              <a:buFont typeface="Arial,Sans-Serif" pitchFamily="34" charset="0"/>
              <a:buChar char="•"/>
            </a:pPr>
            <a:r>
              <a:rPr lang="en-US">
                <a:latin typeface="Arial"/>
                <a:ea typeface="Calibri"/>
                <a:cs typeface="Arial"/>
              </a:rPr>
              <a:t>Batch Normalization</a:t>
            </a:r>
          </a:p>
          <a:p>
            <a:pPr marL="383540" lvl="1" algn="just">
              <a:buFont typeface="Arial,Sans-Serif" pitchFamily="34" charset="0"/>
              <a:buChar char="•"/>
            </a:pPr>
            <a:r>
              <a:rPr lang="en-US" err="1">
                <a:latin typeface="Arial"/>
                <a:ea typeface="Calibri"/>
                <a:cs typeface="Arial"/>
              </a:rPr>
              <a:t>LeakyReLU</a:t>
            </a:r>
            <a:r>
              <a:rPr lang="en-US">
                <a:latin typeface="Arial"/>
                <a:ea typeface="Calibri"/>
                <a:cs typeface="Arial"/>
              </a:rPr>
              <a:t> activation</a:t>
            </a:r>
            <a:endParaRPr lang="en-US"/>
          </a:p>
          <a:p>
            <a:pPr marL="383540" lvl="1" algn="just">
              <a:buFont typeface="Arial" pitchFamily="34" charset="0"/>
              <a:buChar char="•"/>
            </a:pPr>
            <a:r>
              <a:rPr lang="en-US">
                <a:latin typeface="Arial"/>
                <a:ea typeface="Calibri"/>
                <a:cs typeface="Arial"/>
              </a:rPr>
              <a:t>Max Pooling, 3x3 kernel</a:t>
            </a:r>
          </a:p>
          <a:p>
            <a:pPr marL="383540" lvl="1" algn="just">
              <a:buFont typeface="Arial" pitchFamily="34" charset="0"/>
              <a:buChar char="•"/>
            </a:pPr>
            <a:endParaRPr lang="en-US">
              <a:latin typeface="Arial"/>
              <a:ea typeface="Calibri"/>
              <a:cs typeface="Arial"/>
            </a:endParaRPr>
          </a:p>
          <a:p>
            <a:pPr marL="383540" lvl="1" algn="just">
              <a:buFont typeface="Arial" pitchFamily="34" charset="0"/>
              <a:buChar char="•"/>
            </a:pPr>
            <a:r>
              <a:rPr lang="en-US">
                <a:latin typeface="Arial"/>
                <a:ea typeface="Calibri"/>
                <a:cs typeface="Arial"/>
              </a:rPr>
              <a:t>Flatten</a:t>
            </a:r>
          </a:p>
          <a:p>
            <a:pPr marL="383540" lvl="1" algn="just">
              <a:buFont typeface="Arial" pitchFamily="34" charset="0"/>
              <a:buChar char="•"/>
            </a:pPr>
            <a:r>
              <a:rPr lang="en-US">
                <a:latin typeface="Arial"/>
                <a:ea typeface="Calibri"/>
                <a:cs typeface="Arial"/>
              </a:rPr>
              <a:t>Dropout 0.5</a:t>
            </a:r>
          </a:p>
          <a:p>
            <a:pPr marL="383540" lvl="1" algn="just">
              <a:buFont typeface="Arial" pitchFamily="34" charset="0"/>
              <a:buChar char="•"/>
            </a:pPr>
            <a:r>
              <a:rPr lang="en-US">
                <a:latin typeface="Arial"/>
                <a:ea typeface="Calibri"/>
                <a:cs typeface="Arial"/>
              </a:rPr>
              <a:t>Dense, 10 neurons</a:t>
            </a:r>
          </a:p>
          <a:p>
            <a:pPr algn="just">
              <a:buFont typeface="Arial" pitchFamily="34" charset="0"/>
              <a:buChar char="•"/>
            </a:pPr>
            <a:r>
              <a:rPr lang="en-US" sz="1800">
                <a:latin typeface="Arial"/>
                <a:ea typeface="Calibri"/>
                <a:cs typeface="Arial"/>
              </a:rPr>
              <a:t>MNIST classification, split into training, validation and testing</a:t>
            </a:r>
            <a:endParaRPr lang="en-US" sz="1800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en-US" sz="1800">
                <a:latin typeface="Arial"/>
                <a:ea typeface="Calibri"/>
                <a:cs typeface="Arial"/>
              </a:rPr>
              <a:t>K-Fold training</a:t>
            </a:r>
          </a:p>
          <a:p>
            <a:pPr marL="383540" lvl="1">
              <a:buFont typeface="Arial" pitchFamily="34" charset="0"/>
              <a:buChar char="•"/>
            </a:pPr>
            <a:endParaRPr lang="en-US"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7411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arrows pointing at a red button">
            <a:extLst>
              <a:ext uri="{FF2B5EF4-FFF2-40B4-BE49-F238E27FC236}">
                <a16:creationId xmlns:a16="http://schemas.microsoft.com/office/drawing/2014/main" id="{457B1461-6DF5-7F19-0722-FBB259B994C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alphaModFix amt="35000"/>
          </a:blip>
          <a:srcRect t="10838" b="489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2547CE-7180-4646-B244-C53AD3036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US"/>
              <a:t>Attacks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256ED-A5B7-6196-52AE-5FDD17CB1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i="1">
                <a:solidFill>
                  <a:schemeClr val="tx1">
                    <a:lumMod val="85000"/>
                    <a:lumOff val="15000"/>
                  </a:schemeClr>
                </a:solidFill>
                <a:ea typeface="Calibri Light"/>
                <a:cs typeface="Calibri Light"/>
              </a:rPr>
              <a:t>Projected Gradient Descent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i="1">
                <a:solidFill>
                  <a:schemeClr val="tx1">
                    <a:lumMod val="85000"/>
                    <a:lumOff val="15000"/>
                  </a:schemeClr>
                </a:solidFill>
                <a:ea typeface="Calibri Light"/>
                <a:cs typeface="Calibri Light"/>
              </a:rPr>
              <a:t>DeepFool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E48FC5F-D999-4EDB-950D-72D888AF1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4FD78646-135E-4557-B29D-3FF781EE5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45E9F4B-134E-4C8F-A439-E2CC9100B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97302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032A56-883E-0321-862D-A13C95808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  <a:ea typeface="Calibri Light"/>
                <a:cs typeface="Calibri Light"/>
              </a:rPr>
              <a:t>Projected Gradient Descent</a:t>
            </a:r>
            <a:br>
              <a:rPr lang="en-US" sz="3600">
                <a:solidFill>
                  <a:srgbClr val="FFFFFF"/>
                </a:solidFill>
                <a:ea typeface="Calibri Light"/>
                <a:cs typeface="Calibri Light"/>
              </a:rPr>
            </a:br>
            <a:r>
              <a:rPr lang="en-US" sz="3600">
                <a:ea typeface="Calibri Light"/>
                <a:cs typeface="Calibri Light"/>
              </a:rPr>
              <a:t>(PGD)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3162E71-F2BF-66FE-2FD5-0BBF3324D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964506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pPr algn="just"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b="1">
                <a:ea typeface="Calibri" panose="020F0502020204030204"/>
                <a:cs typeface="Calibri" panose="020F0502020204030204"/>
              </a:rPr>
              <a:t>Iterative attack</a:t>
            </a:r>
            <a:r>
              <a:rPr lang="en-US">
                <a:ea typeface="Calibri" panose="020F0502020204030204"/>
                <a:cs typeface="Calibri" panose="020F0502020204030204"/>
              </a:rPr>
              <a:t> that repeatedly applies Fast Gradient Sign method and projects the result back into the epsilon-ball around the attack</a:t>
            </a:r>
            <a:endParaRPr lang="en-US"/>
          </a:p>
          <a:p>
            <a:pPr algn="just"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 The algorithm:</a:t>
            </a:r>
          </a:p>
          <a:p>
            <a:pPr marL="383540" lvl="1" algn="just"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Take image and compute gradient loss with respect to input</a:t>
            </a:r>
          </a:p>
          <a:p>
            <a:pPr marL="383540" lvl="1" algn="just"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Increase loss in steps and project result back into a valid range, perturbation remains bounded</a:t>
            </a:r>
          </a:p>
          <a:p>
            <a:pPr marL="383540" lvl="1" algn="just"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Repeat </a:t>
            </a:r>
          </a:p>
          <a:p>
            <a:pPr algn="just"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 The maximum allowed perturbation dictates how far the loss should be decreased </a:t>
            </a:r>
          </a:p>
        </p:txBody>
      </p:sp>
    </p:spTree>
    <p:extLst>
      <p:ext uri="{BB962C8B-B14F-4D97-AF65-F5344CB8AC3E}">
        <p14:creationId xmlns:p14="http://schemas.microsoft.com/office/powerpoint/2010/main" val="2815376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7211D9-E545-4D00-9874-641EC7C7B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BBC34A-8C43-4368-951E-A04EB7C00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248D8C-05D4-5497-1867-9BA4C169E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4" y="1390243"/>
            <a:ext cx="10577744" cy="40724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53C49C-DF8E-276F-ED80-D873444A0D2D}"/>
              </a:ext>
            </a:extLst>
          </p:cNvPr>
          <p:cNvSpPr txBox="1"/>
          <p:nvPr/>
        </p:nvSpPr>
        <p:spPr>
          <a:xfrm>
            <a:off x="5590917" y="592609"/>
            <a:ext cx="32230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>
                <a:latin typeface="Calibri Light"/>
                <a:ea typeface="Calibri Light"/>
                <a:cs typeface="Calibri Light"/>
              </a:rPr>
              <a:t>PGD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171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4B7237-6D8A-FC30-0B09-EFEEFDBB1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4D98CA-EFCA-2E4D-C898-A67CF6CE1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ea typeface="Calibri Light"/>
                <a:cs typeface="Calibri Light"/>
              </a:rPr>
              <a:t>DeepFool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2ECD4-0693-FBCF-266C-DFBD86D72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pPr algn="just">
              <a:buFont typeface="Arial" panose="020F0502020204030204" pitchFamily="34" charset="0"/>
              <a:buChar char="•"/>
            </a:pPr>
            <a:r>
              <a:rPr lang="en-US" b="1">
                <a:ea typeface="Calibri"/>
                <a:cs typeface="Calibri"/>
              </a:rPr>
              <a:t> Iterative attack </a:t>
            </a:r>
            <a:r>
              <a:rPr lang="en-US">
                <a:ea typeface="Calibri"/>
                <a:cs typeface="Calibri"/>
              </a:rPr>
              <a:t>that find the minimal perturbation necessary to change the classification by linearizing the decision boundary and moving towards it:</a:t>
            </a:r>
            <a:endParaRPr lang="en-US"/>
          </a:p>
          <a:p>
            <a:pPr algn="just">
              <a:buFont typeface="Arial" panose="020F0502020204030204" pitchFamily="34" charset="0"/>
              <a:buChar char="•"/>
            </a:pPr>
            <a:r>
              <a:rPr lang="en-US">
                <a:ea typeface="Calibri"/>
                <a:cs typeface="Calibri"/>
              </a:rPr>
              <a:t> The algorithm:</a:t>
            </a:r>
          </a:p>
          <a:p>
            <a:pPr marL="383540" lvl="1" algn="just">
              <a:buFont typeface="Arial" panose="020F0502020204030204" pitchFamily="34" charset="0"/>
              <a:buChar char="•"/>
            </a:pPr>
            <a:r>
              <a:rPr lang="en-US">
                <a:ea typeface="Calibri"/>
                <a:cs typeface="Calibri"/>
              </a:rPr>
              <a:t>Calculate the distance to each decision boundary and find the closest one</a:t>
            </a:r>
          </a:p>
          <a:p>
            <a:pPr marL="383540" lvl="1" algn="just">
              <a:buFont typeface="Arial" panose="020F0502020204030204" pitchFamily="34" charset="0"/>
              <a:buChar char="•"/>
            </a:pPr>
            <a:r>
              <a:rPr lang="en-US">
                <a:ea typeface="Calibri"/>
                <a:cs typeface="Calibri"/>
              </a:rPr>
              <a:t>Take a step towards said boundary, repeat until misclassification occurs</a:t>
            </a:r>
          </a:p>
          <a:p>
            <a:pPr algn="just">
              <a:buFont typeface="Arial" panose="020F0502020204030204" pitchFamily="34" charset="0"/>
              <a:buChar char="•"/>
            </a:pPr>
            <a:r>
              <a:rPr lang="en-US">
                <a:ea typeface="Calibri"/>
                <a:cs typeface="Calibri"/>
              </a:rPr>
              <a:t> PGD minimizes confusion, </a:t>
            </a:r>
            <a:r>
              <a:rPr lang="en-US" err="1">
                <a:ea typeface="Calibri" panose="020F0502020204030204"/>
                <a:cs typeface="Calibri" panose="020F0502020204030204"/>
              </a:rPr>
              <a:t>DeepFool</a:t>
            </a:r>
            <a:r>
              <a:rPr lang="en-US">
                <a:ea typeface="Calibri" panose="020F0502020204030204"/>
                <a:cs typeface="Calibri" panose="020F0502020204030204"/>
              </a:rPr>
              <a:t> finds minimal perturbation for misclassification</a:t>
            </a:r>
          </a:p>
          <a:p>
            <a:pPr>
              <a:buFont typeface="Arial" panose="020F0502020204030204" pitchFamily="34" charset="0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00615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4D6899-F73B-BF7F-5D6E-6793C30D3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CE834D-3298-A501-F385-3831263D9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487332-3BAC-C380-B42F-FFC87E854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178429-344A-0CAA-00AF-CD1C84DBC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71522F-4A49-56EB-9EE1-F0A9EA40F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2D905-5EBF-E2DE-637E-ACD6B192D1FD}"/>
              </a:ext>
            </a:extLst>
          </p:cNvPr>
          <p:cNvSpPr txBox="1"/>
          <p:nvPr/>
        </p:nvSpPr>
        <p:spPr>
          <a:xfrm>
            <a:off x="5047992" y="592609"/>
            <a:ext cx="32230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>
                <a:latin typeface="Calibri Light"/>
                <a:ea typeface="Calibri Light"/>
                <a:cs typeface="Calibri Light"/>
              </a:rPr>
              <a:t>DeepFool</a:t>
            </a:r>
            <a:endParaRPr lang="en-US"/>
          </a:p>
        </p:txBody>
      </p:sp>
      <p:pic>
        <p:nvPicPr>
          <p:cNvPr id="2" name="Picture 1" descr="A collage of images of a dog and a horse&#10;&#10;AI-generated content may be incorrect.">
            <a:extLst>
              <a:ext uri="{FF2B5EF4-FFF2-40B4-BE49-F238E27FC236}">
                <a16:creationId xmlns:a16="http://schemas.microsoft.com/office/drawing/2014/main" id="{B35CF058-4DDD-29BA-C03F-AADD5C8A8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1243013"/>
            <a:ext cx="1057275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10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5FDF6-40B7-23D7-7991-6B2FC09FD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08530D-8C81-F445-A356-9E652AB79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7AC081-0B21-50FA-CA77-8FC514B6D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C9873E-FB09-E576-D5DE-E6E435742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E81295-730A-CFFE-86CC-12FE1A847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972CC4-B7A4-409F-A022-8DEC70983D16}"/>
              </a:ext>
            </a:extLst>
          </p:cNvPr>
          <p:cNvSpPr txBox="1"/>
          <p:nvPr/>
        </p:nvSpPr>
        <p:spPr>
          <a:xfrm>
            <a:off x="5047992" y="592609"/>
            <a:ext cx="32230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err="1">
                <a:latin typeface="Calibri Light"/>
                <a:ea typeface="Calibri Light"/>
                <a:cs typeface="Calibri Light"/>
              </a:rPr>
              <a:t>DeepFool</a:t>
            </a:r>
            <a:endParaRPr lang="en-US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6105F7-23B4-C882-99C8-D0EA5AB66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3" y="1166813"/>
            <a:ext cx="11001375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53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5564E2A-0D4C-4EF5-8455-4790C9A1A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2B01DC-EDD3-4D68-AACD-E19168D52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CE07E9-DEC9-42EC-87D4-298074074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3B3B6C5-748F-437C-AE76-DB11FEA99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7CEB5D-9BB2-475C-BA8D-AC88BB8C9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6E27B1-CADD-7F29-890E-45487DD2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0588" y="965199"/>
            <a:ext cx="6766078" cy="49276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chemeClr val="tx1">
                    <a:lumMod val="85000"/>
                    <a:lumOff val="15000"/>
                  </a:schemeClr>
                </a:solidFill>
              </a:rPr>
              <a:t>PDG vs DeepFool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B14AD1F-ADD5-46E7-966F-4C0290232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477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7211D9-E545-4D00-9874-641EC7C7B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BBC34A-8C43-4368-951E-A04EB7C00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1A730B-7965-989C-44B4-BB4D1C555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421254"/>
              </p:ext>
            </p:extLst>
          </p:nvPr>
        </p:nvGraphicFramePr>
        <p:xfrm>
          <a:off x="804334" y="1163041"/>
          <a:ext cx="10577746" cy="452683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525696">
                  <a:extLst>
                    <a:ext uri="{9D8B030D-6E8A-4147-A177-3AD203B41FA5}">
                      <a16:colId xmlns:a16="http://schemas.microsoft.com/office/drawing/2014/main" val="2273159027"/>
                    </a:ext>
                  </a:extLst>
                </a:gridCol>
                <a:gridCol w="3525696">
                  <a:extLst>
                    <a:ext uri="{9D8B030D-6E8A-4147-A177-3AD203B41FA5}">
                      <a16:colId xmlns:a16="http://schemas.microsoft.com/office/drawing/2014/main" val="483163245"/>
                    </a:ext>
                  </a:extLst>
                </a:gridCol>
                <a:gridCol w="3526354">
                  <a:extLst>
                    <a:ext uri="{9D8B030D-6E8A-4147-A177-3AD203B41FA5}">
                      <a16:colId xmlns:a16="http://schemas.microsoft.com/office/drawing/2014/main" val="1621624739"/>
                    </a:ext>
                  </a:extLst>
                </a:gridCol>
              </a:tblGrid>
              <a:tr h="718295">
                <a:tc>
                  <a:txBody>
                    <a:bodyPr/>
                    <a:lstStyle/>
                    <a:p>
                      <a:pPr algn="ctr"/>
                      <a:r>
                        <a:rPr lang="en-US" sz="2100" b="1" cap="all" spc="150">
                          <a:solidFill>
                            <a:schemeClr val="lt1"/>
                          </a:solidFill>
                        </a:rPr>
                        <a:t>Aspect</a:t>
                      </a:r>
                    </a:p>
                  </a:txBody>
                  <a:tcPr marL="177600" marR="177600" marT="177600" marB="1776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b="1" cap="all" spc="150">
                          <a:solidFill>
                            <a:schemeClr val="lt1"/>
                          </a:solidFill>
                        </a:rPr>
                        <a:t>PGD</a:t>
                      </a:r>
                    </a:p>
                  </a:txBody>
                  <a:tcPr marL="177600" marR="177600" marT="177600" marB="1776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cap="all" spc="150" err="1">
                          <a:solidFill>
                            <a:schemeClr val="lt1"/>
                          </a:solidFill>
                        </a:rPr>
                        <a:t>DeepFool</a:t>
                      </a:r>
                    </a:p>
                  </a:txBody>
                  <a:tcPr marL="177600" marR="177600" marT="177600" marB="1776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223814"/>
                  </a:ext>
                </a:extLst>
              </a:tr>
              <a:tr h="915629">
                <a:tc>
                  <a:txBody>
                    <a:bodyPr/>
                    <a:lstStyle/>
                    <a:p>
                      <a:pPr algn="ctr"/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Working Principle</a:t>
                      </a:r>
                    </a:p>
                  </a:txBody>
                  <a:tcPr marL="177600" marR="177600" marT="177600" marB="1776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700" b="0" i="0" u="none" strike="noStrike" cap="none" spc="0" noProof="0">
                          <a:solidFill>
                            <a:schemeClr val="tx1"/>
                          </a:solidFill>
                          <a:latin typeface="Calibri"/>
                        </a:rPr>
                        <a:t>Maximizes misclassification probability – maximization of loss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77600" marR="177600" marT="177600" marB="1776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700" b="0" i="0" u="none" strike="noStrike" cap="none" spc="0" noProof="0">
                          <a:solidFill>
                            <a:schemeClr val="tx1"/>
                          </a:solidFill>
                          <a:latin typeface="Calibri"/>
                        </a:rPr>
                        <a:t>Approximates and crosses decision boundary with minimal "effort"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77600" marR="177600" marT="177600" marB="1776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856667"/>
                  </a:ext>
                </a:extLst>
              </a:tr>
              <a:tr h="915629">
                <a:tc>
                  <a:txBody>
                    <a:bodyPr/>
                    <a:lstStyle/>
                    <a:p>
                      <a:pPr algn="ctr"/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marL="177600" marR="177600" marT="177600" marB="1776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700" b="0" i="0" u="none" strike="noStrike" cap="none" spc="0" noProof="0">
                          <a:solidFill>
                            <a:schemeClr val="tx1"/>
                          </a:solidFill>
                          <a:latin typeface="Calibri"/>
                        </a:rPr>
                        <a:t>Strong but possibly larger perturbations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77600" marR="177600" marT="177600" marB="1776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700" b="0" i="0" u="none" strike="noStrike" cap="none" spc="0" noProof="0">
                          <a:solidFill>
                            <a:schemeClr val="tx1"/>
                          </a:solidFill>
                          <a:latin typeface="Calibri"/>
                        </a:rPr>
                        <a:t>Minimal and often imperceptible perturbations.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77600" marR="177600" marT="177600" marB="1776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909977"/>
                  </a:ext>
                </a:extLst>
              </a:tr>
              <a:tr h="659095">
                <a:tc>
                  <a:txBody>
                    <a:bodyPr/>
                    <a:lstStyle/>
                    <a:p>
                      <a:pPr algn="ctr"/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Computation per step</a:t>
                      </a:r>
                    </a:p>
                  </a:txBody>
                  <a:tcPr marL="177600" marR="177600" marT="177600" marB="1776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177600" marR="177600" marT="177600" marB="1776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177600" marR="177600" marT="177600" marB="1776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231748"/>
                  </a:ext>
                </a:extLst>
              </a:tr>
              <a:tr h="65909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700" b="0" i="0" u="none" strike="noStrike" cap="none" spc="0" noProof="0">
                          <a:solidFill>
                            <a:schemeClr val="tx1"/>
                          </a:solidFill>
                          <a:latin typeface="Calibri"/>
                        </a:rPr>
                        <a:t>Iterations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77600" marR="177600" marT="177600" marB="1776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700" b="0" i="0" u="none" strike="noStrike" cap="none" spc="0" noProof="0">
                          <a:solidFill>
                            <a:schemeClr val="tx1"/>
                          </a:solidFill>
                          <a:latin typeface="Calibri"/>
                        </a:rPr>
                        <a:t>Many (small steps)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77600" marR="177600" marT="177600" marB="1776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Few (larger adaptive steps)</a:t>
                      </a:r>
                    </a:p>
                  </a:txBody>
                  <a:tcPr marL="177600" marR="177600" marT="177600" marB="1776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341212"/>
                  </a:ext>
                </a:extLst>
              </a:tr>
              <a:tr h="65909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Outcome</a:t>
                      </a:r>
                    </a:p>
                  </a:txBody>
                  <a:tcPr marL="177600" marR="177600" marT="177600" marB="1776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700" b="0" i="0" u="none" strike="noStrike" cap="none" spc="0" noProof="0">
                          <a:solidFill>
                            <a:schemeClr val="tx1"/>
                          </a:solidFill>
                          <a:latin typeface="Calibri"/>
                        </a:rPr>
                        <a:t>Strong adversarial examples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77600" marR="177600" marT="177600" marB="1776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700" b="0" i="0" u="none" strike="noStrike" cap="none" spc="0" noProof="0">
                          <a:solidFill>
                            <a:schemeClr val="tx1"/>
                          </a:solidFill>
                          <a:latin typeface="Calibri"/>
                        </a:rPr>
                        <a:t>Minimal perturbations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77600" marR="177600" marT="177600" marB="1776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108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1325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7E3F2D-8435-4B55-3AD2-DB51CA646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46EDCB-9EF1-49F1-9615-854B6DB18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6" y="0"/>
            <a:ext cx="458473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DBE04F-547E-6B9F-DE64-8AFB071085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40080"/>
            <a:ext cx="3659246" cy="2926080"/>
          </a:xfrm>
        </p:spPr>
        <p:txBody>
          <a:bodyPr>
            <a:normAutofit/>
          </a:bodyPr>
          <a:lstStyle/>
          <a:p>
            <a:pPr algn="ctr"/>
            <a:r>
              <a:rPr lang="en-US" sz="4400">
                <a:solidFill>
                  <a:srgbClr val="FFFFFF"/>
                </a:solidFill>
              </a:rPr>
              <a:t>Defenses</a:t>
            </a:r>
            <a:endParaRPr lang="en-US"/>
          </a:p>
        </p:txBody>
      </p:sp>
      <p:pic>
        <p:nvPicPr>
          <p:cNvPr id="5" name="Picture 4" descr="3D square and rectangle">
            <a:extLst>
              <a:ext uri="{FF2B5EF4-FFF2-40B4-BE49-F238E27FC236}">
                <a16:creationId xmlns:a16="http://schemas.microsoft.com/office/drawing/2014/main" id="{7FC03E6B-4ED1-5B08-542E-92E6CB8AA0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13" r="20310" b="-8"/>
          <a:stretch>
            <a:fillRect/>
          </a:stretch>
        </p:blipFill>
        <p:spPr>
          <a:xfrm>
            <a:off x="4650171" y="10"/>
            <a:ext cx="7552266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1F586E-4095-4BB9-BC55-276FEE353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5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6844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DBFCC0-3809-8B7F-903C-97BB0DC5E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ea typeface="Calibri Light"/>
                <a:cs typeface="Calibri Light"/>
              </a:rPr>
              <a:t>Adversarial Training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42E0D-B7B9-E679-4A79-13B623CCB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pPr algn="just">
              <a:buFont typeface="Arial,Sans-Serif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 Algorithm:</a:t>
            </a:r>
          </a:p>
          <a:p>
            <a:pPr marL="383540" lvl="1" algn="just"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Generate adversarial example based on current batch</a:t>
            </a:r>
          </a:p>
          <a:p>
            <a:pPr marL="383540" lvl="1" algn="just"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Combine both clean and adversarial examples</a:t>
            </a:r>
          </a:p>
          <a:p>
            <a:pPr marL="383540" lvl="1" algn="just"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Train on both types of data</a:t>
            </a:r>
          </a:p>
          <a:p>
            <a:pPr algn="just"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A very common attack type used for adversarial examples is Fast Gradient Sign Method (single-iteration PGD)</a:t>
            </a:r>
          </a:p>
        </p:txBody>
      </p:sp>
    </p:spTree>
    <p:extLst>
      <p:ext uri="{BB962C8B-B14F-4D97-AF65-F5344CB8AC3E}">
        <p14:creationId xmlns:p14="http://schemas.microsoft.com/office/powerpoint/2010/main" val="1593641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EA3FB-25D8-14AF-2F0D-1B49F9DAF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992875-449A-EF8D-0E39-E1FC203E3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ea typeface="Calibri Light"/>
                <a:cs typeface="Calibri Light"/>
              </a:rPr>
              <a:t>Jacobian Regularization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3E10F-010A-4528-2747-D01CD8D35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pPr algn="just"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 The Jacobian matrix contains all partial derivatives of the network outputs with respect to the input</a:t>
            </a:r>
            <a:endParaRPr lang="en-US"/>
          </a:p>
          <a:p>
            <a:pPr algn="just"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 The idea of Jacobian regularization is to add a penalty term in the formula to discourage large gradients with respect to the input, thus resulting in a more robust model</a:t>
            </a:r>
          </a:p>
          <a:p>
            <a:pPr algn="just"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 Algorithm:</a:t>
            </a:r>
          </a:p>
          <a:p>
            <a:pPr marL="383540" lvl="1" algn="just"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Compute classification loss as usual</a:t>
            </a:r>
          </a:p>
          <a:p>
            <a:pPr marL="383540" lvl="1" algn="just"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Compute regularization term based on input gradient magnitude</a:t>
            </a:r>
          </a:p>
          <a:p>
            <a:pPr marL="383540" lvl="1" algn="just"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Combine and update the model</a:t>
            </a:r>
          </a:p>
          <a:p>
            <a:pPr algn="just"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 A higher penalty term increases robustness; however, this comes at the cost of accuracy</a:t>
            </a:r>
          </a:p>
        </p:txBody>
      </p:sp>
    </p:spTree>
    <p:extLst>
      <p:ext uri="{BB962C8B-B14F-4D97-AF65-F5344CB8AC3E}">
        <p14:creationId xmlns:p14="http://schemas.microsoft.com/office/powerpoint/2010/main" val="4186812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4A4BF-1A91-7F14-C4F7-AFEA2C982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46EDCB-9EF1-49F1-9615-854B6DB18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6" y="0"/>
            <a:ext cx="458473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BE12AA-69DB-2C3A-1220-D0DB81E69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840606"/>
            <a:ext cx="3659246" cy="2926080"/>
          </a:xfrm>
        </p:spPr>
        <p:txBody>
          <a:bodyPr>
            <a:normAutofit/>
          </a:bodyPr>
          <a:lstStyle/>
          <a:p>
            <a:pPr algn="ctr"/>
            <a:r>
              <a:rPr lang="en-US" sz="4400">
                <a:solidFill>
                  <a:srgbClr val="FFFFFF"/>
                </a:solidFill>
              </a:rPr>
              <a:t>Results</a:t>
            </a:r>
            <a:endParaRPr lang="en-US"/>
          </a:p>
        </p:txBody>
      </p:sp>
      <p:pic>
        <p:nvPicPr>
          <p:cNvPr id="5" name="Picture 4" descr="Codes on papers">
            <a:extLst>
              <a:ext uri="{FF2B5EF4-FFF2-40B4-BE49-F238E27FC236}">
                <a16:creationId xmlns:a16="http://schemas.microsoft.com/office/drawing/2014/main" id="{11B5D93C-C7AE-F04E-288F-FCD811DB34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48" r="18852" b="-3"/>
          <a:stretch>
            <a:fillRect/>
          </a:stretch>
        </p:blipFill>
        <p:spPr>
          <a:xfrm>
            <a:off x="4639733" y="10"/>
            <a:ext cx="7552266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1F586E-4095-4BB9-BC55-276FEE353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5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21402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1057C6D-CCCA-403B-9CEC-B76B7703B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4FA5FE-E54B-4C0E-B9F9-55CE13FCC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5EE609-61C5-624E-9197-91E89C14C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ea typeface="Calibri Light"/>
                <a:cs typeface="Calibri Light"/>
              </a:rPr>
              <a:t>Final architectural experiments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60188E-2A5C-4426-BA57-5B0B2333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10641A76-061B-A0C7-4172-DD0EC869AA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378137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941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7E0C2E9-66FE-4939-B00E-F2F8A16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7D3963-DBF6-4A94-8855-A3F7086A8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CA29A2A-9A2D-43BC-8094-36C9D9365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E8B4A2C-1DF4-427D-8928-14B50EB02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F383C-2383-CBE1-BF12-9ABD29584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>
                <a:solidFill>
                  <a:schemeClr val="tx1">
                    <a:lumMod val="85000"/>
                    <a:lumOff val="15000"/>
                  </a:schemeClr>
                </a:solidFill>
              </a:rPr>
              <a:t>Custom implementations (5 folds) accuracy</a:t>
            </a:r>
            <a:endParaRPr lang="en-US" sz="4000">
              <a:solidFill>
                <a:schemeClr val="tx1">
                  <a:lumMod val="85000"/>
                  <a:lumOff val="15000"/>
                </a:schemeClr>
              </a:solidFill>
              <a:ea typeface="Calibri Light"/>
              <a:cs typeface="Calibri Light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FD49643-9DE3-4B1D-B8B2-622A7D2C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068873E-E0BC-42BE-B27E-3FCF89A4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D5DC2E-FCC1-4CC9-BC42-C54E53292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E4D6B782-B252-6660-699C-A0DF81F04A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8142442"/>
              </p:ext>
            </p:extLst>
          </p:nvPr>
        </p:nvGraphicFramePr>
        <p:xfrm>
          <a:off x="635457" y="666798"/>
          <a:ext cx="10916456" cy="3549301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115403">
                  <a:extLst>
                    <a:ext uri="{9D8B030D-6E8A-4147-A177-3AD203B41FA5}">
                      <a16:colId xmlns:a16="http://schemas.microsoft.com/office/drawing/2014/main" val="1741814361"/>
                    </a:ext>
                  </a:extLst>
                </a:gridCol>
                <a:gridCol w="2729552">
                  <a:extLst>
                    <a:ext uri="{9D8B030D-6E8A-4147-A177-3AD203B41FA5}">
                      <a16:colId xmlns:a16="http://schemas.microsoft.com/office/drawing/2014/main" val="1209030653"/>
                    </a:ext>
                  </a:extLst>
                </a:gridCol>
                <a:gridCol w="3017333">
                  <a:extLst>
                    <a:ext uri="{9D8B030D-6E8A-4147-A177-3AD203B41FA5}">
                      <a16:colId xmlns:a16="http://schemas.microsoft.com/office/drawing/2014/main" val="331525930"/>
                    </a:ext>
                  </a:extLst>
                </a:gridCol>
                <a:gridCol w="3054168">
                  <a:extLst>
                    <a:ext uri="{9D8B030D-6E8A-4147-A177-3AD203B41FA5}">
                      <a16:colId xmlns:a16="http://schemas.microsoft.com/office/drawing/2014/main" val="3643308368"/>
                    </a:ext>
                  </a:extLst>
                </a:gridCol>
              </a:tblGrid>
              <a:tr h="134905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Attacks</a:t>
                      </a:r>
                    </a:p>
                  </a:txBody>
                  <a:tcPr marL="321204" marR="240903" marT="160602" marB="1606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Normal training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Adversarial training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Jacobian regularization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046516"/>
                  </a:ext>
                </a:extLst>
              </a:tr>
              <a:tr h="73341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Clean</a:t>
                      </a:r>
                    </a:p>
                  </a:txBody>
                  <a:tcPr marL="321204" marR="240903" marT="160602" marB="1606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79.2%</a:t>
                      </a:r>
                    </a:p>
                  </a:txBody>
                  <a:tcPr marL="321204" marR="240903" marT="160602" marB="1606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48.3%</a:t>
                      </a:r>
                    </a:p>
                  </a:txBody>
                  <a:tcPr marL="321204" marR="240903" marT="160602" marB="1606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321204" marR="240903" marT="160602" marB="1606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370870"/>
                  </a:ext>
                </a:extLst>
              </a:tr>
              <a:tr h="73341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PGD</a:t>
                      </a:r>
                    </a:p>
                  </a:txBody>
                  <a:tcPr marL="321204" marR="240903" marT="160602" marB="1606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0.01%</a:t>
                      </a:r>
                    </a:p>
                  </a:txBody>
                  <a:tcPr marL="321204" marR="240903" marT="160602" marB="1606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30.7%</a:t>
                      </a:r>
                    </a:p>
                  </a:txBody>
                  <a:tcPr marL="321204" marR="240903" marT="160602" marB="1606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321204" marR="240903" marT="160602" marB="1606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314414"/>
                  </a:ext>
                </a:extLst>
              </a:tr>
              <a:tr h="73341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3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DeepFool</a:t>
                      </a:r>
                      <a:endParaRPr lang="en-US" sz="23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</a:endParaRPr>
                    </a:p>
                  </a:txBody>
                  <a:tcPr marL="321204" marR="240903" marT="160602" marB="1606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3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11.45%</a:t>
                      </a:r>
                      <a:endParaRPr lang="en-US" sz="23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/>
                      </a:endParaRPr>
                    </a:p>
                  </a:txBody>
                  <a:tcPr marL="321204" marR="240903" marT="160602" marB="1606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21.2%</a:t>
                      </a:r>
                    </a:p>
                  </a:txBody>
                  <a:tcPr marL="321204" marR="240903" marT="160602" marB="1606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?%</a:t>
                      </a:r>
                    </a:p>
                  </a:txBody>
                  <a:tcPr marL="321204" marR="240903" marT="160602" marB="1606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165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9401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FDFF3-E970-F14B-4DCD-CB0B459C7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Clean vs Adversarial images</a:t>
            </a:r>
          </a:p>
        </p:txBody>
      </p:sp>
      <p:pic>
        <p:nvPicPr>
          <p:cNvPr id="4" name="Content Placeholder 3" descr="A close up&#10;&#10;AI-generated content may be incorrect.">
            <a:extLst>
              <a:ext uri="{FF2B5EF4-FFF2-40B4-BE49-F238E27FC236}">
                <a16:creationId xmlns:a16="http://schemas.microsoft.com/office/drawing/2014/main" id="{BA05B465-0D97-6B70-5D69-09AD9B4593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113901"/>
            <a:ext cx="10058400" cy="348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97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1057C6D-CCCA-403B-9CEC-B76B7703B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34FA5FE-E54B-4C0E-B9F9-55CE13FCC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FA86-DA85-0C61-4E58-81BC7EF99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300">
                <a:solidFill>
                  <a:srgbClr val="FFFFFF"/>
                </a:solidFill>
              </a:rPr>
              <a:t>Custom implementations vs state-of-the-art (3 epochs), base acc = 61.79%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760188E-2A5C-4426-BA57-5B0B2333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050A9D-8F56-16EE-AD4B-FE7111B6E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518996"/>
              </p:ext>
            </p:extLst>
          </p:nvPr>
        </p:nvGraphicFramePr>
        <p:xfrm>
          <a:off x="4741863" y="1362421"/>
          <a:ext cx="6797676" cy="4204599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765422">
                  <a:extLst>
                    <a:ext uri="{9D8B030D-6E8A-4147-A177-3AD203B41FA5}">
                      <a16:colId xmlns:a16="http://schemas.microsoft.com/office/drawing/2014/main" val="1741814361"/>
                    </a:ext>
                  </a:extLst>
                </a:gridCol>
                <a:gridCol w="2047858">
                  <a:extLst>
                    <a:ext uri="{9D8B030D-6E8A-4147-A177-3AD203B41FA5}">
                      <a16:colId xmlns:a16="http://schemas.microsoft.com/office/drawing/2014/main" val="1209030653"/>
                    </a:ext>
                  </a:extLst>
                </a:gridCol>
                <a:gridCol w="1607832">
                  <a:extLst>
                    <a:ext uri="{9D8B030D-6E8A-4147-A177-3AD203B41FA5}">
                      <a16:colId xmlns:a16="http://schemas.microsoft.com/office/drawing/2014/main" val="331525930"/>
                    </a:ext>
                  </a:extLst>
                </a:gridCol>
                <a:gridCol w="1376564">
                  <a:extLst>
                    <a:ext uri="{9D8B030D-6E8A-4147-A177-3AD203B41FA5}">
                      <a16:colId xmlns:a16="http://schemas.microsoft.com/office/drawing/2014/main" val="3643308368"/>
                    </a:ext>
                  </a:extLst>
                </a:gridCol>
              </a:tblGrid>
              <a:tr h="71517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b="1" cap="none" spc="0">
                          <a:solidFill>
                            <a:srgbClr val="FFFFFF"/>
                          </a:solidFill>
                        </a:rPr>
                        <a:t>Attacks</a:t>
                      </a:r>
                    </a:p>
                  </a:txBody>
                  <a:tcPr marL="294715" marR="176829" marT="176829" marB="176829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cap="none" spc="0">
                          <a:solidFill>
                            <a:srgbClr val="FFFFFF"/>
                          </a:solidFill>
                        </a:rPr>
                        <a:t>Statistics</a:t>
                      </a:r>
                    </a:p>
                  </a:txBody>
                  <a:tcPr marL="294715" marR="176829" marT="176829" marB="17682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cap="none" spc="0">
                          <a:solidFill>
                            <a:srgbClr val="FFFFFF"/>
                          </a:solidFill>
                        </a:rPr>
                        <a:t>Custom</a:t>
                      </a:r>
                    </a:p>
                  </a:txBody>
                  <a:tcPr marL="294715" marR="176829" marT="176829" marB="17682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cap="none" spc="0" err="1">
                          <a:solidFill>
                            <a:srgbClr val="FFFFFF"/>
                          </a:solidFill>
                        </a:rPr>
                        <a:t>SotA</a:t>
                      </a:r>
                    </a:p>
                  </a:txBody>
                  <a:tcPr marL="294715" marR="176829" marT="176829" marB="17682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046516"/>
                  </a:ext>
                </a:extLst>
              </a:tr>
              <a:tr h="715175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PGD</a:t>
                      </a:r>
                    </a:p>
                  </a:txBody>
                  <a:tcPr marL="294715" marR="176829" marT="176829" marB="176829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Accuracy</a:t>
                      </a:r>
                    </a:p>
                  </a:txBody>
                  <a:tcPr marL="294715" marR="176829" marT="176829" marB="17682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kern="12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2.9%</a:t>
                      </a:r>
                    </a:p>
                  </a:txBody>
                  <a:tcPr marL="294715" marR="176829" marT="176829" marB="17682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kern="12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13.4%</a:t>
                      </a:r>
                    </a:p>
                  </a:txBody>
                  <a:tcPr marL="294715" marR="176829" marT="176829" marB="17682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314414"/>
                  </a:ext>
                </a:extLst>
              </a:tr>
              <a:tr h="10295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b="0" i="0" u="none" strike="noStrike" cap="none" spc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/>
                        </a:rPr>
                        <a:t>Avg. t / Batch [s]</a:t>
                      </a:r>
                      <a:endParaRPr lang="en-US" sz="21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94715" marR="176829" marT="176829" marB="176829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kern="12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0.03</a:t>
                      </a:r>
                    </a:p>
                  </a:txBody>
                  <a:tcPr marL="294715" marR="176829" marT="176829" marB="17682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kern="12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0.208</a:t>
                      </a:r>
                    </a:p>
                  </a:txBody>
                  <a:tcPr marL="294715" marR="176829" marT="176829" marB="17682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331423"/>
                  </a:ext>
                </a:extLst>
              </a:tr>
              <a:tr h="715175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cap="none" spc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DeepFool</a:t>
                      </a:r>
                    </a:p>
                  </a:txBody>
                  <a:tcPr marL="294715" marR="176829" marT="176829" marB="176829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b="0" i="0" u="none" strike="noStrike" cap="none" spc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/>
                        </a:rPr>
                        <a:t>Accuracy</a:t>
                      </a:r>
                      <a:endParaRPr lang="en-US" sz="21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94715" marR="176829" marT="176829" marB="17682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kern="12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14%</a:t>
                      </a:r>
                    </a:p>
                  </a:txBody>
                  <a:tcPr marL="294715" marR="176829" marT="176829" marB="17682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kern="12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20.5%</a:t>
                      </a:r>
                    </a:p>
                  </a:txBody>
                  <a:tcPr marL="294715" marR="176829" marT="176829" marB="17682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165114"/>
                  </a:ext>
                </a:extLst>
              </a:tr>
              <a:tr h="10295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b="0" i="0" u="none" strike="noStrike" cap="none" spc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/>
                        </a:rPr>
                        <a:t>Avg. t / Batch [s]</a:t>
                      </a:r>
                      <a:endParaRPr lang="en-US" sz="21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94715" marR="176829" marT="176829" marB="176829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kern="12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0.124</a:t>
                      </a:r>
                    </a:p>
                  </a:txBody>
                  <a:tcPr marL="294715" marR="176829" marT="176829" marB="17682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kern="12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30.77</a:t>
                      </a:r>
                    </a:p>
                  </a:txBody>
                  <a:tcPr marL="294715" marR="176829" marT="176829" marB="17682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16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8916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0C9E8-9C58-966F-D1BB-A1D562CEC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Questions?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875FEFA-AD92-571C-AC0F-97A542CC91ED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26521669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CA72677B-2F8C-4192-8EBE-D360BE3B20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Widescreen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Retrospect</vt:lpstr>
      <vt:lpstr>IA3 – Adversarial Neural Networks Project </vt:lpstr>
      <vt:lpstr>Table of contents</vt:lpstr>
      <vt:lpstr>Introduction</vt:lpstr>
      <vt:lpstr>Neural Architecture</vt:lpstr>
      <vt:lpstr>Attacks</vt:lpstr>
      <vt:lpstr>Projected Gradient Descent (PGD)</vt:lpstr>
      <vt:lpstr>PowerPoint Presentation</vt:lpstr>
      <vt:lpstr>DeepFool</vt:lpstr>
      <vt:lpstr>PowerPoint Presentation</vt:lpstr>
      <vt:lpstr>PowerPoint Presentation</vt:lpstr>
      <vt:lpstr>PDG vs DeepFool</vt:lpstr>
      <vt:lpstr>PowerPoint Presentation</vt:lpstr>
      <vt:lpstr>Defenses</vt:lpstr>
      <vt:lpstr>Adversarial Training</vt:lpstr>
      <vt:lpstr>Jacobian Regularization</vt:lpstr>
      <vt:lpstr>Results</vt:lpstr>
      <vt:lpstr>Final architectural experiments</vt:lpstr>
      <vt:lpstr>Custom implementations (5 folds) accuracy</vt:lpstr>
      <vt:lpstr>Clean vs Adversarial images</vt:lpstr>
      <vt:lpstr>Custom implementations vs state-of-the-art (3 epochs), base acc = 61.79%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Mircea Meche</dc:creator>
  <cp:revision>16</cp:revision>
  <dcterms:created xsi:type="dcterms:W3CDTF">2025-11-07T19:02:36Z</dcterms:created>
  <dcterms:modified xsi:type="dcterms:W3CDTF">2025-11-12T16:19:29Z</dcterms:modified>
</cp:coreProperties>
</file>